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4"/>
    <p:sldMasterId id="2147483680" r:id="rId5"/>
    <p:sldMasterId id="2147483682" r:id="rId6"/>
    <p:sldMasterId id="2147483684" r:id="rId7"/>
  </p:sldMasterIdLst>
  <p:notesMasterIdLst>
    <p:notesMasterId r:id="rId21"/>
  </p:notesMasterIdLst>
  <p:sldIdLst>
    <p:sldId id="256" r:id="rId29"/>
    <p:sldId id="257" r:id="rId30"/>
    <p:sldId id="258" r:id="rId31"/>
    <p:sldId id="259" r:id="rId32"/>
    <p:sldId id="260" r:id="rId33"/>
    <p:sldId id="261" r:id="rId34"/>
    <p:sldId id="262" r:id="rId35"/>
    <p:sldId id="263" r:id="rId36"/>
    <p:sldId id="264" r:id="rId37"/>
    <p:sldId id="265" r:id="rId38"/>
    <p:sldId id="266" r:id="rId39"/>
    <p:sldId id="267" r:id="rId40"/>
    <p:sldId id="268" r:id="rId41"/>
    <p:sldId id="269" r:id="rId42"/>
    <p:sldId id="270" r:id="rId43"/>
    <p:sldId id="271" r:id="rId44"/>
    <p:sldId id="272" r:id="rId45"/>
    <p:sldId id="273" r:id="rId46"/>
    <p:sldId id="274" r:id="rId47"/>
    <p:sldId id="275" r:id="rId48"/>
    <p:sldId id="276" r:id="rId49"/>
    <p:sldId id="277" r:id="rId50"/>
    <p:sldId id="278" r:id="rId51"/>
    <p:sldId id="279" r:id="rId52"/>
    <p:sldId id="280" r:id="rId53"/>
    <p:sldId id="281" r:id="rId54"/>
    <p:sldId id="282" r:id="rId55"/>
    <p:sldId id="283" r:id="rId56"/>
    <p:sldId id="284" r:id="rId57"/>
    <p:sldId id="285" r:id="rId58"/>
    <p:sldId id="286" r:id="rId59"/>
    <p:sldId id="287" r:id="rId60"/>
    <p:sldId id="288" r:id="rId61"/>
    <p:sldId id="289" r:id="rId62"/>
    <p:sldId id="290" r:id="rId63"/>
    <p:sldId id="291" r:id="rId64"/>
    <p:sldId id="292" r:id="rId65"/>
    <p:sldId id="293" r:id="rId66"/>
    <p:sldId id="294" r:id="rId67"/>
    <p:sldId id="295" r:id="rId68"/>
    <p:sldId id="296" r:id="rId69"/>
    <p:sldId id="297" r:id="rId70"/>
    <p:sldId id="298" r:id="rId71"/>
    <p:sldId id="299" r:id="rId72"/>
    <p:sldId id="300" r:id="rId73"/>
    <p:sldId id="301" r:id="rId74"/>
    <p:sldId id="302" r:id="rId75"/>
    <p:sldId id="303" r:id="rId76"/>
    <p:sldId id="304" r:id="rId77"/>
    <p:sldId id="305" r:id="rId78"/>
    <p:sldId id="306" r:id="rId79"/>
    <p:sldId id="307" r:id="rId80"/>
    <p:sldId id="308" r:id="rId81"/>
    <p:sldId id="309" r:id="rId82"/>
    <p:sldId id="310" r:id="rId83"/>
    <p:sldId id="311" r:id="rId84"/>
    <p:sldId id="312" r:id="rId85"/>
    <p:sldId id="313" r:id="rId86"/>
    <p:sldId id="314" r:id="rId87"/>
    <p:sldId id="315" r:id="rId88"/>
    <p:sldId id="316" r:id="rId89"/>
    <p:sldId id="317" r:id="rId90"/>
    <p:sldId id="318" r:id="rId91"/>
    <p:sldId id="319" r:id="rId92"/>
    <p:sldId id="320" r:id="rId93"/>
    <p:sldId id="321" r:id="rId94"/>
    <p:sldId id="322" r:id="rId95"/>
    <p:sldId id="323" r:id="rId96"/>
    <p:sldId id="324" r:id="rId97"/>
    <p:sldId id="325" r:id="rId98"/>
    <p:sldId id="326" r:id="rId99"/>
    <p:sldId id="327" r:id="rId100"/>
    <p:sldId id="328" r:id="rId101"/>
    <p:sldId id="329" r:id="rId102"/>
    <p:sldId id="330" r:id="rId10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y Glasheen" initials="RG" lastIdx="1" clrIdx="0">
    <p:extLst>
      <p:ext uri="{19B8F6BF-5375-455C-9EA6-DF929625EA0E}">
        <p15:presenceInfo xmlns:p15="http://schemas.microsoft.com/office/powerpoint/2012/main" userId="S::rglasheen@brightwork.com::785f7a1a-8d11-4bab-9525-84d3cd0677d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D00"/>
    <a:srgbClr val="3679FC"/>
    <a:srgbClr val="76BC21"/>
    <a:srgbClr val="FFCD00"/>
    <a:srgbClr val="00E2FF"/>
    <a:srgbClr val="00F69B"/>
    <a:srgbClr val="8533A1"/>
    <a:srgbClr val="B2AFC4"/>
    <a:srgbClr val="1ECAD3"/>
    <a:srgbClr val="2B6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48530-BA8A-054B-819B-DD187C002EE3}" v="1" dt="2026-04-30T15:32:19.186"/>
    <p1510:client id="{FE61737C-C49F-6D46-AAC7-1EA9B0C40812}" v="30" dt="2026-04-30T15:16:22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2" autoAdjust="0"/>
    <p:restoredTop sz="96301" autoAdjust="0"/>
  </p:normalViewPr>
  <p:slideViewPr>
    <p:cSldViewPr snapToGrid="0">
      <p:cViewPr varScale="1">
        <p:scale>
          <a:sx n="122" d="100"/>
          <a:sy n="122" d="100"/>
        </p:scale>
        <p:origin x="752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openxmlformats.org/officeDocument/2006/relationships/slide" Target="slides/slide1.xml"/><Relationship Id="rId30" Type="http://schemas.openxmlformats.org/officeDocument/2006/relationships/slide" Target="slides/slide2.xml"/><Relationship Id="rId31" Type="http://schemas.openxmlformats.org/officeDocument/2006/relationships/slide" Target="slides/slide3.xml"/><Relationship Id="rId32" Type="http://schemas.openxmlformats.org/officeDocument/2006/relationships/slide" Target="slides/slide4.xml"/><Relationship Id="rId33" Type="http://schemas.openxmlformats.org/officeDocument/2006/relationships/slide" Target="slides/slide5.xml"/><Relationship Id="rId34" Type="http://schemas.openxmlformats.org/officeDocument/2006/relationships/slide" Target="slides/slide6.xml"/><Relationship Id="rId35" Type="http://schemas.openxmlformats.org/officeDocument/2006/relationships/slide" Target="slides/slide7.xml"/><Relationship Id="rId36" Type="http://schemas.openxmlformats.org/officeDocument/2006/relationships/slide" Target="slides/slide8.xml"/><Relationship Id="rId37" Type="http://schemas.openxmlformats.org/officeDocument/2006/relationships/slide" Target="slides/slide9.xml"/><Relationship Id="rId38" Type="http://schemas.openxmlformats.org/officeDocument/2006/relationships/slide" Target="slides/slide10.xml"/><Relationship Id="rId39" Type="http://schemas.openxmlformats.org/officeDocument/2006/relationships/slide" Target="slides/slide11.xml"/><Relationship Id="rId40" Type="http://schemas.openxmlformats.org/officeDocument/2006/relationships/slide" Target="slides/slide12.xml"/><Relationship Id="rId41" Type="http://schemas.openxmlformats.org/officeDocument/2006/relationships/slide" Target="slides/slide13.xml"/><Relationship Id="rId42" Type="http://schemas.openxmlformats.org/officeDocument/2006/relationships/slide" Target="slides/slide14.xml"/><Relationship Id="rId43" Type="http://schemas.openxmlformats.org/officeDocument/2006/relationships/slide" Target="slides/slide15.xml"/><Relationship Id="rId44" Type="http://schemas.openxmlformats.org/officeDocument/2006/relationships/slide" Target="slides/slide16.xml"/><Relationship Id="rId45" Type="http://schemas.openxmlformats.org/officeDocument/2006/relationships/slide" Target="slides/slide17.xml"/><Relationship Id="rId46" Type="http://schemas.openxmlformats.org/officeDocument/2006/relationships/slide" Target="slides/slide18.xml"/><Relationship Id="rId47" Type="http://schemas.openxmlformats.org/officeDocument/2006/relationships/slide" Target="slides/slide19.xml"/><Relationship Id="rId48" Type="http://schemas.openxmlformats.org/officeDocument/2006/relationships/slide" Target="slides/slide20.xml"/><Relationship Id="rId49" Type="http://schemas.openxmlformats.org/officeDocument/2006/relationships/slide" Target="slides/slide21.xml"/><Relationship Id="rId50" Type="http://schemas.openxmlformats.org/officeDocument/2006/relationships/slide" Target="slides/slide22.xml"/><Relationship Id="rId51" Type="http://schemas.openxmlformats.org/officeDocument/2006/relationships/slide" Target="slides/slide23.xml"/><Relationship Id="rId52" Type="http://schemas.openxmlformats.org/officeDocument/2006/relationships/slide" Target="slides/slide24.xml"/><Relationship Id="rId53" Type="http://schemas.openxmlformats.org/officeDocument/2006/relationships/slide" Target="slides/slide25.xml"/><Relationship Id="rId54" Type="http://schemas.openxmlformats.org/officeDocument/2006/relationships/slide" Target="slides/slide26.xml"/><Relationship Id="rId55" Type="http://schemas.openxmlformats.org/officeDocument/2006/relationships/slide" Target="slides/slide27.xml"/><Relationship Id="rId56" Type="http://schemas.openxmlformats.org/officeDocument/2006/relationships/slide" Target="slides/slide28.xml"/><Relationship Id="rId57" Type="http://schemas.openxmlformats.org/officeDocument/2006/relationships/slide" Target="slides/slide29.xml"/><Relationship Id="rId58" Type="http://schemas.openxmlformats.org/officeDocument/2006/relationships/slide" Target="slides/slide30.xml"/><Relationship Id="rId59" Type="http://schemas.openxmlformats.org/officeDocument/2006/relationships/slide" Target="slides/slide31.xml"/><Relationship Id="rId60" Type="http://schemas.openxmlformats.org/officeDocument/2006/relationships/slide" Target="slides/slide32.xml"/><Relationship Id="rId61" Type="http://schemas.openxmlformats.org/officeDocument/2006/relationships/slide" Target="slides/slide33.xml"/><Relationship Id="rId62" Type="http://schemas.openxmlformats.org/officeDocument/2006/relationships/slide" Target="slides/slide34.xml"/><Relationship Id="rId63" Type="http://schemas.openxmlformats.org/officeDocument/2006/relationships/slide" Target="slides/slide35.xml"/><Relationship Id="rId64" Type="http://schemas.openxmlformats.org/officeDocument/2006/relationships/slide" Target="slides/slide36.xml"/><Relationship Id="rId65" Type="http://schemas.openxmlformats.org/officeDocument/2006/relationships/slide" Target="slides/slide37.xml"/><Relationship Id="rId66" Type="http://schemas.openxmlformats.org/officeDocument/2006/relationships/slide" Target="slides/slide38.xml"/><Relationship Id="rId67" Type="http://schemas.openxmlformats.org/officeDocument/2006/relationships/slide" Target="slides/slide39.xml"/><Relationship Id="rId68" Type="http://schemas.openxmlformats.org/officeDocument/2006/relationships/slide" Target="slides/slide40.xml"/><Relationship Id="rId69" Type="http://schemas.openxmlformats.org/officeDocument/2006/relationships/slide" Target="slides/slide41.xml"/><Relationship Id="rId70" Type="http://schemas.openxmlformats.org/officeDocument/2006/relationships/slide" Target="slides/slide42.xml"/><Relationship Id="rId71" Type="http://schemas.openxmlformats.org/officeDocument/2006/relationships/slide" Target="slides/slide43.xml"/><Relationship Id="rId72" Type="http://schemas.openxmlformats.org/officeDocument/2006/relationships/slide" Target="slides/slide44.xml"/><Relationship Id="rId73" Type="http://schemas.openxmlformats.org/officeDocument/2006/relationships/slide" Target="slides/slide45.xml"/><Relationship Id="rId74" Type="http://schemas.openxmlformats.org/officeDocument/2006/relationships/slide" Target="slides/slide46.xml"/><Relationship Id="rId75" Type="http://schemas.openxmlformats.org/officeDocument/2006/relationships/slide" Target="slides/slide47.xml"/><Relationship Id="rId76" Type="http://schemas.openxmlformats.org/officeDocument/2006/relationships/slide" Target="slides/slide48.xml"/><Relationship Id="rId77" Type="http://schemas.openxmlformats.org/officeDocument/2006/relationships/slide" Target="slides/slide49.xml"/><Relationship Id="rId78" Type="http://schemas.openxmlformats.org/officeDocument/2006/relationships/slide" Target="slides/slide50.xml"/><Relationship Id="rId79" Type="http://schemas.openxmlformats.org/officeDocument/2006/relationships/slide" Target="slides/slide51.xml"/><Relationship Id="rId80" Type="http://schemas.openxmlformats.org/officeDocument/2006/relationships/slide" Target="slides/slide52.xml"/><Relationship Id="rId81" Type="http://schemas.openxmlformats.org/officeDocument/2006/relationships/slide" Target="slides/slide53.xml"/><Relationship Id="rId82" Type="http://schemas.openxmlformats.org/officeDocument/2006/relationships/slide" Target="slides/slide54.xml"/><Relationship Id="rId83" Type="http://schemas.openxmlformats.org/officeDocument/2006/relationships/slide" Target="slides/slide55.xml"/><Relationship Id="rId84" Type="http://schemas.openxmlformats.org/officeDocument/2006/relationships/slide" Target="slides/slide56.xml"/><Relationship Id="rId85" Type="http://schemas.openxmlformats.org/officeDocument/2006/relationships/slide" Target="slides/slide57.xml"/><Relationship Id="rId86" Type="http://schemas.openxmlformats.org/officeDocument/2006/relationships/slide" Target="slides/slide58.xml"/><Relationship Id="rId87" Type="http://schemas.openxmlformats.org/officeDocument/2006/relationships/slide" Target="slides/slide59.xml"/><Relationship Id="rId88" Type="http://schemas.openxmlformats.org/officeDocument/2006/relationships/slide" Target="slides/slide60.xml"/><Relationship Id="rId89" Type="http://schemas.openxmlformats.org/officeDocument/2006/relationships/slide" Target="slides/slide61.xml"/><Relationship Id="rId90" Type="http://schemas.openxmlformats.org/officeDocument/2006/relationships/slide" Target="slides/slide62.xml"/><Relationship Id="rId91" Type="http://schemas.openxmlformats.org/officeDocument/2006/relationships/slide" Target="slides/slide63.xml"/><Relationship Id="rId92" Type="http://schemas.openxmlformats.org/officeDocument/2006/relationships/slide" Target="slides/slide64.xml"/><Relationship Id="rId93" Type="http://schemas.openxmlformats.org/officeDocument/2006/relationships/slide" Target="slides/slide65.xml"/><Relationship Id="rId94" Type="http://schemas.openxmlformats.org/officeDocument/2006/relationships/slide" Target="slides/slide66.xml"/><Relationship Id="rId95" Type="http://schemas.openxmlformats.org/officeDocument/2006/relationships/slide" Target="slides/slide67.xml"/><Relationship Id="rId96" Type="http://schemas.openxmlformats.org/officeDocument/2006/relationships/slide" Target="slides/slide68.xml"/><Relationship Id="rId97" Type="http://schemas.openxmlformats.org/officeDocument/2006/relationships/slide" Target="slides/slide69.xml"/><Relationship Id="rId98" Type="http://schemas.openxmlformats.org/officeDocument/2006/relationships/slide" Target="slides/slide70.xml"/><Relationship Id="rId99" Type="http://schemas.openxmlformats.org/officeDocument/2006/relationships/slide" Target="slides/slide71.xml"/><Relationship Id="rId100" Type="http://schemas.openxmlformats.org/officeDocument/2006/relationships/slide" Target="slides/slide72.xml"/><Relationship Id="rId101" Type="http://schemas.openxmlformats.org/officeDocument/2006/relationships/slide" Target="slides/slide73.xml"/><Relationship Id="rId102" Type="http://schemas.openxmlformats.org/officeDocument/2006/relationships/slide" Target="slides/slide74.xml"/><Relationship Id="rId103" Type="http://schemas.openxmlformats.org/officeDocument/2006/relationships/slide" Target="slides/slide7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 Glasheen" userId="c67fd889-8470-4165-8569-8911e7ff9a0a" providerId="ADAL" clId="{506579FA-F8C7-5B5D-A2A1-C8B20A0AC245}"/>
    <pc:docChg chg="modSld modMainMaster modNotesMaster">
      <pc:chgData name="Ray Glasheen" userId="c67fd889-8470-4165-8569-8911e7ff9a0a" providerId="ADAL" clId="{506579FA-F8C7-5B5D-A2A1-C8B20A0AC245}" dt="2026-04-30T15:32:19.186" v="47" actId="18331"/>
      <pc:docMkLst>
        <pc:docMk/>
      </pc:docMkLst>
      <pc:sldChg chg="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3080557386" sldId="256"/>
        </pc:sldMkLst>
      </pc:sldChg>
      <pc:sldChg chg="modSp mod setBg">
        <pc:chgData name="Ray Glasheen" userId="c67fd889-8470-4165-8569-8911e7ff9a0a" providerId="ADAL" clId="{506579FA-F8C7-5B5D-A2A1-C8B20A0AC245}" dt="2026-04-30T15:32:19.186" v="47" actId="18331"/>
        <pc:sldMkLst>
          <pc:docMk/>
          <pc:sldMk cId="350046711" sldId="258"/>
        </pc:sldMkLst>
        <pc:spChg chg="mod">
          <ac:chgData name="Ray Glasheen" userId="c67fd889-8470-4165-8569-8911e7ff9a0a" providerId="ADAL" clId="{506579FA-F8C7-5B5D-A2A1-C8B20A0AC245}" dt="2026-04-30T10:56:47.331" v="38"/>
          <ac:spMkLst>
            <pc:docMk/>
            <pc:sldMk cId="350046711" sldId="258"/>
            <ac:spMk id="3" creationId="{43EEEF1E-D858-9C47-9A95-2D236BFD2F31}"/>
          </ac:spMkLst>
        </pc:spChg>
        <pc:spChg chg="mod">
          <ac:chgData name="Ray Glasheen" userId="c67fd889-8470-4165-8569-8911e7ff9a0a" providerId="ADAL" clId="{506579FA-F8C7-5B5D-A2A1-C8B20A0AC245}" dt="2026-04-30T10:56:47.331" v="38"/>
          <ac:spMkLst>
            <pc:docMk/>
            <pc:sldMk cId="350046711" sldId="258"/>
            <ac:spMk id="4" creationId="{12D3891A-AA58-D14F-909B-BF581581CD69}"/>
          </ac:spMkLst>
        </pc:spChg>
        <pc:spChg chg="mod">
          <ac:chgData name="Ray Glasheen" userId="c67fd889-8470-4165-8569-8911e7ff9a0a" providerId="ADAL" clId="{506579FA-F8C7-5B5D-A2A1-C8B20A0AC245}" dt="2026-04-30T10:56:47.331" v="38"/>
          <ac:spMkLst>
            <pc:docMk/>
            <pc:sldMk cId="350046711" sldId="258"/>
            <ac:spMk id="7" creationId="{107F331A-088A-5E4B-ADDD-52C41D93C27C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1474078492" sldId="261"/>
        </pc:sldMkLst>
        <pc:spChg chg="mod">
          <ac:chgData name="Ray Glasheen" userId="c67fd889-8470-4165-8569-8911e7ff9a0a" providerId="ADAL" clId="{506579FA-F8C7-5B5D-A2A1-C8B20A0AC245}" dt="2026-04-30T10:37:05.918" v="8" actId="207"/>
          <ac:spMkLst>
            <pc:docMk/>
            <pc:sldMk cId="1474078492" sldId="261"/>
            <ac:spMk id="2" creationId="{BD9E7A4B-103B-A243-ACCD-0C9FE7384C12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1157289511" sldId="262"/>
        </pc:sldMkLst>
        <pc:spChg chg="mod">
          <ac:chgData name="Ray Glasheen" userId="c67fd889-8470-4165-8569-8911e7ff9a0a" providerId="ADAL" clId="{506579FA-F8C7-5B5D-A2A1-C8B20A0AC245}" dt="2026-04-30T10:37:10.183" v="9" actId="207"/>
          <ac:spMkLst>
            <pc:docMk/>
            <pc:sldMk cId="1157289511" sldId="262"/>
            <ac:spMk id="2" creationId="{36344FFF-13BA-424C-9540-AE5072FAFE91}"/>
          </ac:spMkLst>
        </pc:spChg>
      </pc:sldChg>
      <pc:sldChg chg="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3326974690" sldId="263"/>
        </pc:sldMkLst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3577289732" sldId="264"/>
        </pc:sldMkLst>
        <pc:spChg chg="mod">
          <ac:chgData name="Ray Glasheen" userId="c67fd889-8470-4165-8569-8911e7ff9a0a" providerId="ADAL" clId="{506579FA-F8C7-5B5D-A2A1-C8B20A0AC245}" dt="2026-04-30T10:37:16.324" v="10" actId="207"/>
          <ac:spMkLst>
            <pc:docMk/>
            <pc:sldMk cId="3577289732" sldId="264"/>
            <ac:spMk id="2" creationId="{C64E0B3B-90DF-B94B-AE01-B5E2E4D25A75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2735981974" sldId="265"/>
        </pc:sldMkLst>
        <pc:spChg chg="mod">
          <ac:chgData name="Ray Glasheen" userId="c67fd889-8470-4165-8569-8911e7ff9a0a" providerId="ADAL" clId="{506579FA-F8C7-5B5D-A2A1-C8B20A0AC245}" dt="2026-04-30T10:56:47.331" v="38"/>
          <ac:spMkLst>
            <pc:docMk/>
            <pc:sldMk cId="2735981974" sldId="265"/>
            <ac:spMk id="2" creationId="{F1C5D181-690E-C445-BC33-669C1AE0453A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998035033" sldId="266"/>
        </pc:sldMkLst>
        <pc:spChg chg="mod">
          <ac:chgData name="Ray Glasheen" userId="c67fd889-8470-4165-8569-8911e7ff9a0a" providerId="ADAL" clId="{506579FA-F8C7-5B5D-A2A1-C8B20A0AC245}" dt="2026-04-30T10:37:25.928" v="12" actId="207"/>
          <ac:spMkLst>
            <pc:docMk/>
            <pc:sldMk cId="998035033" sldId="266"/>
            <ac:spMk id="4" creationId="{0F78C5E3-8A6D-A44D-BF28-D62711E48D00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391276983" sldId="267"/>
        </pc:sldMkLst>
        <pc:spChg chg="mod">
          <ac:chgData name="Ray Glasheen" userId="c67fd889-8470-4165-8569-8911e7ff9a0a" providerId="ADAL" clId="{506579FA-F8C7-5B5D-A2A1-C8B20A0AC245}" dt="2026-04-30T10:36:34.479" v="5" actId="207"/>
          <ac:spMkLst>
            <pc:docMk/>
            <pc:sldMk cId="391276983" sldId="267"/>
            <ac:spMk id="2" creationId="{C448848D-FDC8-0E4A-A9A5-45DDD99E9CB7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1510906715" sldId="268"/>
        </pc:sldMkLst>
        <pc:spChg chg="mod">
          <ac:chgData name="Ray Glasheen" userId="c67fd889-8470-4165-8569-8911e7ff9a0a" providerId="ADAL" clId="{506579FA-F8C7-5B5D-A2A1-C8B20A0AC245}" dt="2026-04-30T10:36:56.515" v="7" actId="207"/>
          <ac:spMkLst>
            <pc:docMk/>
            <pc:sldMk cId="1510906715" sldId="268"/>
            <ac:spMk id="2" creationId="{8EE4798F-ADE4-4A47-81D7-2A692EDC350F}"/>
          </ac:spMkLst>
        </pc:spChg>
      </pc:sldChg>
      <pc:sldChg chg="modSp mod setBg modNotes">
        <pc:chgData name="Ray Glasheen" userId="c67fd889-8470-4165-8569-8911e7ff9a0a" providerId="ADAL" clId="{506579FA-F8C7-5B5D-A2A1-C8B20A0AC245}" dt="2026-04-30T15:32:19.186" v="47" actId="18331"/>
        <pc:sldMkLst>
          <pc:docMk/>
          <pc:sldMk cId="2444015328" sldId="269"/>
        </pc:sldMkLst>
        <pc:spChg chg="mod">
          <ac:chgData name="Ray Glasheen" userId="c67fd889-8470-4165-8569-8911e7ff9a0a" providerId="ADAL" clId="{506579FA-F8C7-5B5D-A2A1-C8B20A0AC245}" dt="2026-04-30T10:36:49.784" v="6" actId="207"/>
          <ac:spMkLst>
            <pc:docMk/>
            <pc:sldMk cId="2444015328" sldId="269"/>
            <ac:spMk id="2" creationId="{4E988BC2-77A6-DB4D-B85B-B8762C5421F1}"/>
          </ac:spMkLst>
        </pc:spChg>
      </pc:sldChg>
      <pc:sldChg chg="setBg">
        <pc:chgData name="Ray Glasheen" userId="c67fd889-8470-4165-8569-8911e7ff9a0a" providerId="ADAL" clId="{506579FA-F8C7-5B5D-A2A1-C8B20A0AC245}" dt="2026-04-30T15:32:19.186" v="47" actId="18331"/>
        <pc:sldMkLst>
          <pc:docMk/>
          <pc:sldMk cId="656950007" sldId="270"/>
        </pc:sldMkLst>
      </pc:sldChg>
      <pc:sldChg chg="setBg">
        <pc:chgData name="Ray Glasheen" userId="c67fd889-8470-4165-8569-8911e7ff9a0a" providerId="ADAL" clId="{506579FA-F8C7-5B5D-A2A1-C8B20A0AC245}" dt="2026-04-30T15:32:19.186" v="47" actId="18331"/>
        <pc:sldMkLst>
          <pc:docMk/>
          <pc:sldMk cId="3898693924" sldId="271"/>
        </pc:sldMkLst>
      </pc:sldChg>
      <pc:sldMasterChg chg="setBg modSldLayout">
        <pc:chgData name="Ray Glasheen" userId="c67fd889-8470-4165-8569-8911e7ff9a0a" providerId="ADAL" clId="{506579FA-F8C7-5B5D-A2A1-C8B20A0AC245}" dt="2026-04-30T15:32:19.186" v="47" actId="18331"/>
        <pc:sldMasterMkLst>
          <pc:docMk/>
          <pc:sldMasterMk cId="2281765972" sldId="2147483678"/>
        </pc:sldMasterMkLst>
        <pc:sldLayoutChg chg="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2281765972" sldId="2147483678"/>
            <pc:sldLayoutMk cId="2898312491" sldId="2147483679"/>
          </pc:sldLayoutMkLst>
        </pc:sldLayoutChg>
      </pc:sldMasterChg>
      <pc:sldMasterChg chg="setBg modSldLayout">
        <pc:chgData name="Ray Glasheen" userId="c67fd889-8470-4165-8569-8911e7ff9a0a" providerId="ADAL" clId="{506579FA-F8C7-5B5D-A2A1-C8B20A0AC245}" dt="2026-04-30T15:32:19.186" v="47" actId="18331"/>
        <pc:sldMasterMkLst>
          <pc:docMk/>
          <pc:sldMasterMk cId="4189170703" sldId="2147483680"/>
        </pc:sldMasterMkLst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4189170703" sldId="2147483680"/>
            <pc:sldLayoutMk cId="1131539201" sldId="2147483681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4189170703" sldId="2147483680"/>
              <pc:sldLayoutMk cId="1131539201" sldId="2147483681"/>
              <ac:spMk id="15" creationId="{091E24DE-EFB1-0B46-A1A5-D4A0F86E2C80}"/>
            </ac:spMkLst>
          </pc:spChg>
        </pc:sldLayoutChg>
      </pc:sldMasterChg>
      <pc:sldMasterChg chg="setBg modSldLayout">
        <pc:chgData name="Ray Glasheen" userId="c67fd889-8470-4165-8569-8911e7ff9a0a" providerId="ADAL" clId="{506579FA-F8C7-5B5D-A2A1-C8B20A0AC245}" dt="2026-04-30T15:32:19.186" v="47" actId="18331"/>
        <pc:sldMasterMkLst>
          <pc:docMk/>
          <pc:sldMasterMk cId="1758291486" sldId="2147483682"/>
        </pc:sldMasterMkLst>
        <pc:sldLayoutChg chg="modSp mod 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758291486" sldId="2147483682"/>
            <pc:sldLayoutMk cId="4187323503" sldId="2147483683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4187323503" sldId="2147483683"/>
              <ac:spMk id="11" creationId="{87A50152-6AF0-CB4C-8223-B92B04D86F3A}"/>
            </ac:spMkLst>
          </pc:spChg>
        </pc:sldLayoutChg>
        <pc:sldLayoutChg chg="modSp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2906598798" sldId="2147483686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2906598798" sldId="2147483686"/>
              <ac:spMk id="14" creationId="{2C0C7565-66F8-5E4F-BC70-B52629A037BD}"/>
            </ac:spMkLst>
          </pc:spChg>
        </pc:sldLayoutChg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1015417581" sldId="2147483687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015417581" sldId="2147483687"/>
              <ac:spMk id="6" creationId="{A54FBFB0-DCDC-C848-901F-75B727D01B69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015417581" sldId="2147483687"/>
              <ac:spMk id="10" creationId="{DC03047F-22E2-5B43-86A2-7583C9DB314F}"/>
            </ac:spMkLst>
          </pc:spChg>
        </pc:sldLayoutChg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304504484" sldId="2147483688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304504484" sldId="2147483688"/>
              <ac:spMk id="6" creationId="{1C79D75D-1604-BB44-B1C9-298036D703C2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304504484" sldId="2147483688"/>
              <ac:spMk id="9" creationId="{FDD66AF7-F6A9-AC40-9D50-9BAAC73B385D}"/>
            </ac:spMkLst>
          </pc:spChg>
        </pc:sldLayoutChg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1999175194" sldId="2147483689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999175194" sldId="2147483689"/>
              <ac:spMk id="11" creationId="{87A50152-6AF0-CB4C-8223-B92B04D86F3A}"/>
            </ac:spMkLst>
          </pc:spChg>
        </pc:sldLayoutChg>
        <pc:sldLayoutChg chg="modSp mod">
          <pc:chgData name="Ray Glasheen" userId="c67fd889-8470-4165-8569-8911e7ff9a0a" providerId="ADAL" clId="{506579FA-F8C7-5B5D-A2A1-C8B20A0AC245}" dt="2026-04-30T10:56:47.331" v="38"/>
          <pc:sldLayoutMkLst>
            <pc:docMk/>
            <pc:sldMasterMk cId="1758291486" sldId="2147483682"/>
            <pc:sldLayoutMk cId="2602732109" sldId="2147483690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2602732109" sldId="2147483690"/>
              <ac:spMk id="5" creationId="{AD4D50A4-B734-AD41-8654-79DC681E4E1B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2602732109" sldId="2147483690"/>
              <ac:spMk id="8" creationId="{9ECF72A8-B638-3842-8B60-7DFC3C6C0C79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2602732109" sldId="2147483690"/>
              <ac:spMk id="9" creationId="{FDD66AF7-F6A9-AC40-9D50-9BAAC73B385D}"/>
            </ac:spMkLst>
          </pc:spChg>
        </pc:sldLayoutChg>
        <pc:sldLayoutChg chg="modSp mod 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758291486" sldId="2147483682"/>
            <pc:sldLayoutMk cId="1865159803" sldId="2147483692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865159803" sldId="2147483692"/>
              <ac:spMk id="11" creationId="{87A50152-6AF0-CB4C-8223-B92B04D86F3A}"/>
            </ac:spMkLst>
          </pc:spChg>
        </pc:sldLayoutChg>
        <pc:sldLayoutChg chg="modSp mod 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758291486" sldId="2147483682"/>
            <pc:sldLayoutMk cId="4070593789" sldId="2147483693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4070593789" sldId="2147483693"/>
              <ac:spMk id="11" creationId="{87A50152-6AF0-CB4C-8223-B92B04D86F3A}"/>
            </ac:spMkLst>
          </pc:spChg>
        </pc:sldLayoutChg>
        <pc:sldLayoutChg chg="modSp mod 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758291486" sldId="2147483682"/>
            <pc:sldLayoutMk cId="1038442111" sldId="2147483694"/>
          </pc:sldLayoutMkLst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038442111" sldId="2147483694"/>
              <ac:spMk id="6" creationId="{A54FBFB0-DCDC-C848-901F-75B727D01B69}"/>
            </ac:spMkLst>
          </pc:spChg>
          <pc:spChg chg="mod">
            <ac:chgData name="Ray Glasheen" userId="c67fd889-8470-4165-8569-8911e7ff9a0a" providerId="ADAL" clId="{506579FA-F8C7-5B5D-A2A1-C8B20A0AC245}" dt="2026-04-30T10:56:47.331" v="38"/>
            <ac:spMkLst>
              <pc:docMk/>
              <pc:sldMasterMk cId="1758291486" sldId="2147483682"/>
              <pc:sldLayoutMk cId="1038442111" sldId="2147483694"/>
              <ac:spMk id="10" creationId="{DC03047F-22E2-5B43-86A2-7583C9DB314F}"/>
            </ac:spMkLst>
          </pc:spChg>
        </pc:sldLayoutChg>
      </pc:sldMasterChg>
      <pc:sldMasterChg chg="setBg modSldLayout">
        <pc:chgData name="Ray Glasheen" userId="c67fd889-8470-4165-8569-8911e7ff9a0a" providerId="ADAL" clId="{506579FA-F8C7-5B5D-A2A1-C8B20A0AC245}" dt="2026-04-30T15:32:19.186" v="47" actId="18331"/>
        <pc:sldMasterMkLst>
          <pc:docMk/>
          <pc:sldMasterMk cId="102519618" sldId="2147483684"/>
        </pc:sldMasterMkLst>
        <pc:sldLayoutChg chg="setBg">
          <pc:chgData name="Ray Glasheen" userId="c67fd889-8470-4165-8569-8911e7ff9a0a" providerId="ADAL" clId="{506579FA-F8C7-5B5D-A2A1-C8B20A0AC245}" dt="2026-04-30T15:32:19.186" v="47" actId="18331"/>
          <pc:sldLayoutMkLst>
            <pc:docMk/>
            <pc:sldMasterMk cId="102519618" sldId="2147483684"/>
            <pc:sldLayoutMk cId="3795906404" sldId="2147483685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4B101-3225-4967-95B5-ED5755256DE0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C794-77EE-4724-B493-2E0907BFA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3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EPPC25 Branded Splash Screen</a:t>
            </a: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#1 on all presentations.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b="1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The speaker should not edit, move or delete this slide.</a:t>
            </a:r>
            <a:endParaRPr lang="en-IE" sz="1200" kern="1200" dirty="0">
              <a:solidFill>
                <a:srgbClr val="FF0000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207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Presentation Title Slide</a:t>
            </a:r>
          </a:p>
          <a:p>
            <a:endParaRPr lang="en-US" dirty="0"/>
          </a:p>
          <a:p>
            <a:r>
              <a:rPr lang="en-US" dirty="0"/>
              <a:t>Please input your presentation title, your name, title, company name and country.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011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Section Break Slide</a:t>
            </a: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starting a new section of the presentation.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 the name of the section in the text field.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748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/ Copy Text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text-only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is preformatted with font and colour styles.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402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 – Dark Background: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/ Copy Text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text-only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is preformatted with font and colour styles.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533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 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+ Dual Copy Text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columns of text-only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is preformatted with font and colour styles.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876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</a:t>
            </a:r>
            <a:r>
              <a:rPr lang="en-IE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Content Slide – Dark Background 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+ Dual Copy Text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columns of text-only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text is preformatted with font and colour styles. 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627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Only</a:t>
            </a:r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only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(table, graph, image, video etc.)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 the Main Content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846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/ Copy Text + Visual-Data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 and visual-data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7695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+ Title / Copy Text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and text information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the Main Content of the presentation.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632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Content Slide: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 + Dual Visual-Data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this slide for inserting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types of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visual-data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 the Main Content of the presentation.</a:t>
            </a:r>
          </a:p>
          <a:p>
            <a:b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Font-size can be altered to allow the content to fit the slide correctly. </a:t>
            </a:r>
          </a:p>
          <a:p>
            <a:endParaRPr lang="en-I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Title Text Box can be deleted if not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B8C794-77EE-4724-B493-2E0907BFA55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95199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12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FF4D00"/>
                </a:solidFill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1539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Text Box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323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Content : Title + Text Box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159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175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Dual Text Box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59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C0C7565-66F8-5E4F-BC70-B52629A037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6600" y="736600"/>
            <a:ext cx="10793413" cy="51958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598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17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Visual Dat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  <a:latin typeface="+mj-lt"/>
              </a:defRPr>
            </a:lvl2pPr>
            <a:lvl3pPr>
              <a:defRPr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44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1C79D75D-1604-BB44-B1C9-298036D70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6264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05221B5-9309-224F-87A9-A3D8D9938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6462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757238"/>
            <a:ext cx="5243512" cy="52006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0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Visual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1885950"/>
            <a:ext cx="5100637" cy="4071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D4D50A4-B734-AD41-8654-79DC681E4E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7913" y="1885950"/>
            <a:ext cx="5372100" cy="4071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9ECF72A8-B638-3842-8B60-7DFC3C6C0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4D00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732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ntent (White Background)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064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theme" Target="../theme/theme3.xml"/><Relationship Id="rId11" Type="http://schemas.openxmlformats.org/officeDocument/2006/relationships/image" Target="../media/image3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4.xml"/><Relationship Id="rId3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7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9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86" r:id="rId5"/>
    <p:sldLayoutId id="2147483687" r:id="rId6"/>
    <p:sldLayoutId id="2147483694" r:id="rId7"/>
    <p:sldLayoutId id="2147483688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1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1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1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1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1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18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9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/>
            <a:r>
              <a:rPr sz="2200"/>
              <a:t>Build Your First AI Agents</a:t>
            </a:r>
          </a:p>
          <a:p>
            <a:pPr/>
            <a:r>
              <a:rPr sz="2200"/>
              <a:t>with Microsoft's Agent Academy</a:t>
            </a:r>
          </a:p>
          <a:p>
            <a:pPr/>
            <a:r>
              <a:rPr sz="2200"/>
              <a:t/>
            </a:r>
          </a:p>
          <a:p>
            <a:pPr/>
            <a:r>
              <a:rPr sz="2200"/>
              <a:t>Nick Doelman &amp; Ulrikke Akerbæk</a:t>
            </a:r>
          </a:p>
          <a:p>
            <a:pPr/>
            <a:r>
              <a:rPr sz="2200"/>
              <a:t>European Power Platform Conference 2026  •  #EPPC26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Nick Doelman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Independent Power Platform Architect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800"/>
              <a:t>Canada</a:t>
            </a:r>
          </a:p>
          <a:p>
            <a:pPr/>
            <a:r>
              <a:rPr b="0" sz="1800"/>
              <a:t>nick@readyxrm.com</a:t>
            </a:r>
          </a:p>
          <a:p>
            <a:pPr/>
            <a:r>
              <a:rPr b="0" sz="1800"/>
              <a:t>@readyxrm</a:t>
            </a:r>
          </a:p>
          <a:p>
            <a:pPr/>
            <a:r>
              <a:rPr b="0" sz="1800"/>
              <a:t>www.nickdoelman.com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1800"/>
              <a:t>Power Platform BOOST Podcast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image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1" y="757238"/>
            <a:ext cx="5243512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Ulrikke Akerbæk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Power Platform Practice Lead, Itera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800"/>
              <a:t>Norway</a:t>
            </a:r>
          </a:p>
          <a:p>
            <a:pPr/>
            <a:r>
              <a:rPr b="0" sz="1800"/>
              <a:t>me@ulrikke.rocks</a:t>
            </a:r>
          </a:p>
          <a:p>
            <a:pPr/>
            <a:r>
              <a:rPr b="0" sz="1800"/>
              <a:t>@ulrikkeakerbk</a:t>
            </a:r>
          </a:p>
          <a:p>
            <a:pPr/>
            <a:r>
              <a:rPr b="0" sz="1800"/>
              <a:t>ulrikke.akerbak.com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1800"/>
              <a:t>Power Platform BOOST Podcast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image5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1" y="757238"/>
            <a:ext cx="5243512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Power Platform BOOST Podcast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Co-hosted by Nick Doelman and Ulrikke Akerbæk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800"/>
              <a:t>Weekly conversations on Power Platform, Copilot Studio,</a:t>
            </a:r>
          </a:p>
          <a:p>
            <a:pPr/>
            <a:r>
              <a:rPr b="0" sz="1800"/>
              <a:t>AI agents, and everything in between.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800"/>
              <a:t>Find us wherever you get your podcasts.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Who Are You?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0" sz="2200"/>
              <a:t>What is your name?</a:t>
            </a:r>
          </a:p>
          <a:p>
            <a:pPr/>
            <a:r>
              <a:rPr b="0" sz="2200"/>
              <a:t>Where are you from?</a:t>
            </a:r>
          </a:p>
          <a:p>
            <a:pPr/>
            <a:r>
              <a:rPr b="0" sz="2200"/>
              <a:t>What is your background?</a:t>
            </a:r>
          </a:p>
          <a:p>
            <a:pPr/>
            <a:r>
              <a:rPr b="0" sz="2200"/>
              <a:t>What do you expect from today?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Housekeeping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Workshop environments are ready — credentials on your handout</a:t>
            </a:r>
          </a:p>
          <a:p>
            <a:pPr/>
            <a:r>
              <a:rPr b="0" sz="1900"/>
              <a:t>Install Microsoft Authenticator if you haven't already</a:t>
            </a:r>
          </a:p>
          <a:p>
            <a:pPr/>
            <a:r>
              <a:rPr b="0" sz="1900"/>
              <a:t>Set up a dedicated browser profile for the workshop tenant</a:t>
            </a:r>
          </a:p>
          <a:p>
            <a:pPr/>
            <a:r>
              <a:rPr b="0" sz="1900"/>
              <a:t>Environments will expire 30 days after the workshop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1900"/>
              <a:t>Lab guide:  microsoft.github.io/agent-academy/recruit/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Tips for Labs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0" sz="2000"/>
              <a:t>Open the lab guide on your phone, tablet, or a second screen</a:t>
            </a:r>
          </a:p>
          <a:p>
            <a:pPr/>
            <a:r>
              <a:rPr b="0" sz="2000"/>
              <a:t>Or use Windows split-screen alongside the browser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Ask your neighbours — collaboration is encouraged!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Raise your hand if you need help — we're 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/>
            <a:r>
              <a:rPr b="1" sz="3200"/>
              <a:t>Foundations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What Is Agent Academy?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100"/>
              <a:t>Microsoft's hands-on curriculum for building agents with Copilot Studio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Three tiers of training:</a:t>
            </a:r>
          </a:p>
          <a:p>
            <a:pPr lvl="1"/>
            <a:r>
              <a:rPr b="1" sz="2000"/>
              <a:t>Recruit  →  Operative  →  Commander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Today: Recruit — 13 lessons from zero to deployed agent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800"/>
              <a:t>Course site:</a:t>
            </a:r>
          </a:p>
          <a:p>
            <a:pPr lvl="1"/>
            <a:r>
              <a:rPr b="1" sz="1800"/>
              <a:t>microsoft.github.io/agent-academy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Meet BIT!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BIT is the Agent Academy mascot.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900"/>
              <a:t>He guides us through the missions and lessons today.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800"/>
              <a:t>Recruit  →  Operative  →  Commander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1900"/>
              <a:t>Your goal today:</a:t>
            </a:r>
          </a:p>
          <a:p>
            <a:pPr lvl="1"/>
            <a:r>
              <a:rPr b="0" sz="1800"/>
              <a:t>Complete all missions and claim your Recruit badge!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imag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1" y="757238"/>
            <a:ext cx="5243512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What Are Agents?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LLMs — the AI engine behind conversational agents</a:t>
            </a:r>
          </a:p>
          <a:p>
            <a:pPr lvl="1"/>
            <a:r>
              <a:rPr b="0" sz="1800"/>
              <a:t>Reason over language, generate contextual responses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RAG — grounding responses in your organisation's data</a:t>
            </a:r>
          </a:p>
          <a:p>
            <a:pPr lvl="1"/>
            <a:r>
              <a:rPr b="0" sz="1800"/>
              <a:t>Retrieval-Augmented Generation: retrieve then generate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Orchestration — coordinating knowledge, skills, and actions</a:t>
            </a:r>
          </a:p>
          <a:p>
            <a:pPr lvl="1"/>
            <a:r>
              <a:rPr b="0" sz="1800"/>
              <a:t>Decides which tool to call, when, and how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Agents combine all three to understand, reason, and act.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Declarative vs. Autonomous Agents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Declarative Agents</a:t>
            </a:r>
          </a:p>
          <a:p>
            <a:pPr/>
            <a:r>
              <a:rPr b="0" sz="800"/>
              <a:t/>
            </a:r>
          </a:p>
          <a:p>
            <a:pPr/>
            <a:r>
              <a:rPr b="0" sz="1900"/>
              <a:t>You write the rules.</a:t>
            </a:r>
          </a:p>
          <a:p>
            <a:pPr/>
            <a:r>
              <a:rPr b="0" sz="1900"/>
              <a:t>The agent follows your prompts</a:t>
            </a:r>
          </a:p>
          <a:p>
            <a:pPr/>
            <a:r>
              <a:rPr b="0" sz="1900"/>
              <a:t>and instructions precisely.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Predictable and controlled.</a:t>
            </a:r>
          </a:p>
          <a:p>
            <a:pPr/>
            <a:r>
              <a:rPr b="0" sz="1800"/>
              <a:t>Great for specific, repeatable tasks.</a:t>
            </a:r>
          </a:p>
          <a:p>
            <a:pPr/>
            <a:r>
              <a:rPr b="0" sz="800"/>
              <a:t/>
            </a:r>
          </a:p>
          <a:p>
            <a:pPr/>
            <a:r>
              <a:rPr b="0" sz="1700"/>
              <a:t>Built in Module 03 today.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200"/>
              <a:t>Autonomous Agents</a:t>
            </a:r>
          </a:p>
          <a:p>
            <a:pPr/>
            <a:r>
              <a:rPr b="0" sz="800"/>
              <a:t/>
            </a:r>
          </a:p>
          <a:p>
            <a:pPr/>
            <a:r>
              <a:rPr b="0" sz="1900"/>
              <a:t>The agent decides how to act.</a:t>
            </a:r>
          </a:p>
          <a:p>
            <a:pPr/>
            <a:r>
              <a:rPr b="0" sz="1900"/>
              <a:t>Uses AI reasoning to choose actions,</a:t>
            </a:r>
          </a:p>
          <a:p>
            <a:pPr/>
            <a:r>
              <a:rPr b="0" sz="1900"/>
              <a:t>respond to events, and adapt.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More powerful, less predictable.</a:t>
            </a:r>
          </a:p>
          <a:p>
            <a:pPr/>
            <a:r>
              <a:rPr b="0" sz="1800"/>
              <a:t>Best for proactive, event-driven work.</a:t>
            </a:r>
          </a:p>
          <a:p>
            <a:pPr/>
            <a:r>
              <a:rPr b="0" sz="800"/>
              <a:t/>
            </a:r>
          </a:p>
          <a:p>
            <a:pPr/>
            <a:r>
              <a:rPr b="0" sz="1700"/>
              <a:t>Introduced in Module 10 today.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Copilot Studio: The Four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Knowledge</a:t>
            </a:r>
          </a:p>
          <a:p>
            <a:pPr/>
            <a:r>
              <a:rPr b="0" sz="1800"/>
              <a:t>What your agent knows.</a:t>
            </a:r>
          </a:p>
          <a:p>
            <a:pPr lvl="1"/>
            <a:r>
              <a:rPr b="0" sz="1700"/>
              <a:t>SharePoint, Dataverse, websites, files.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200"/>
              <a:t>Tools</a:t>
            </a:r>
          </a:p>
          <a:p>
            <a:pPr/>
            <a:r>
              <a:rPr b="0" sz="1800"/>
              <a:t>What your agent can do.</a:t>
            </a:r>
          </a:p>
          <a:p>
            <a:pPr lvl="1"/>
            <a:r>
              <a:rPr b="0" sz="1700"/>
              <a:t>Connectors, Agent Flows, APIs.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200"/>
              <a:t>Instructions</a:t>
            </a:r>
          </a:p>
          <a:p>
            <a:pPr/>
            <a:r>
              <a:rPr b="0" sz="1800"/>
              <a:t>How your agent behaves.</a:t>
            </a:r>
          </a:p>
          <a:p>
            <a:pPr lvl="1"/>
            <a:r>
              <a:rPr b="0" sz="1700"/>
              <a:t>Persona, tone, rules, and focus.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200"/>
              <a:t>Triggers</a:t>
            </a:r>
          </a:p>
          <a:p>
            <a:pPr/>
            <a:r>
              <a:rPr b="0" sz="1800"/>
              <a:t>When your agent acts.</a:t>
            </a:r>
          </a:p>
          <a:p>
            <a:pPr lvl="1"/>
            <a:r>
              <a:rPr b="0" sz="1700"/>
              <a:t>Conversation-started or event-driven.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All visible on the Overview page.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The Copilot Studio Overview Page  ★ New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1800"/>
              <a:t>Every agent lands on the Overview page — your main workspace.</a:t>
            </a:r>
          </a:p>
          <a:p>
            <a:pPr/>
            <a:r>
              <a:rPr b="0" sz="800"/>
              <a:t/>
            </a:r>
          </a:p>
          <a:p>
            <a:pPr/>
            <a:r>
              <a:rPr b="0" sz="1800"/>
              <a:t>What you'll find (scroll down):</a:t>
            </a:r>
          </a:p>
          <a:p>
            <a:pPr lvl="1"/>
            <a:r>
              <a:rPr b="0" sz="1700"/>
              <a:t>Instructions  — system prompt, up to 8,000 chars</a:t>
            </a:r>
          </a:p>
          <a:p>
            <a:pPr lvl="1"/>
            <a:r>
              <a:rPr b="0" sz="1700"/>
              <a:t>Triggers  — event-based activation</a:t>
            </a:r>
          </a:p>
          <a:p>
            <a:pPr lvl="1"/>
            <a:r>
              <a:rPr b="0" sz="1700"/>
              <a:t>Knowledge  — SharePoint, files, websites</a:t>
            </a:r>
          </a:p>
          <a:p>
            <a:pPr lvl="1"/>
            <a:r>
              <a:rPr b="0" sz="1700"/>
              <a:t>Tools  — connectors, Agent Flows, APIs</a:t>
            </a:r>
          </a:p>
          <a:p>
            <a:pPr lvl="1"/>
            <a:r>
              <a:rPr b="0" sz="1700"/>
              <a:t>Topics  — conversational entry points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Channels is under the +8 overflow tab — not on the canvas!</a:t>
            </a:r>
          </a:p>
          <a:p>
            <a:pPr/>
            <a:r>
              <a:rPr b="0" sz="1700"/>
              <a:t>Test pane always visible on the right.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image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913" y="757238"/>
            <a:ext cx="5372100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0" sz="2000"/>
              <a:t>09:00  Intro and foundations</a:t>
            </a:r>
          </a:p>
          <a:p>
            <a:pPr/>
            <a:r>
              <a:rPr b="0" sz="2000"/>
              <a:t>10:00  Mission #1 — Your first agent</a:t>
            </a:r>
          </a:p>
          <a:p>
            <a:pPr/>
            <a:r>
              <a:rPr b="0" sz="2000"/>
              <a:t>10:45  Mission #2 — Build (Declarative, Solutions, Custom)</a:t>
            </a:r>
          </a:p>
          <a:p>
            <a:pPr/>
            <a:r>
              <a:rPr b="1" sz="2000"/>
              <a:t>12:00  Lunch</a:t>
            </a:r>
          </a:p>
          <a:p>
            <a:pPr/>
            <a:r>
              <a:rPr b="0" sz="2000"/>
              <a:t>13:00  Mission #3 — Enhance (Topics, Cards, Flows)</a:t>
            </a:r>
          </a:p>
          <a:p>
            <a:pPr/>
            <a:r>
              <a:rPr b="0" sz="2000"/>
              <a:t>14:30  Mission #4 — Deploy (Triggers, Publishing)</a:t>
            </a:r>
          </a:p>
          <a:p>
            <a:pPr/>
            <a:r>
              <a:rPr b="0" sz="2000"/>
              <a:t>15:30  Mission Complete (Licensing, badge, wrap-up)</a:t>
            </a:r>
          </a:p>
          <a:p>
            <a:pPr/>
            <a:r>
              <a:rPr b="1" sz="2000"/>
              <a:t>16:00  All done!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Mission Briefing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1800"/>
              <a:t>Mission #1: Your First Agent</a:t>
            </a:r>
          </a:p>
          <a:p>
            <a:pPr lvl="1"/>
            <a:r>
              <a:rPr b="0" sz="1600"/>
              <a:t>Lesson 05: Using a Pre-Built Agent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Mission #2: Build</a:t>
            </a:r>
          </a:p>
          <a:p>
            <a:pPr lvl="1"/>
            <a:r>
              <a:rPr b="0" sz="1600"/>
              <a:t>Lesson 03: Declarative Agents</a:t>
            </a:r>
          </a:p>
          <a:p>
            <a:pPr lvl="1"/>
            <a:r>
              <a:rPr b="0" sz="1600"/>
              <a:t>Lesson 04: Creating a Solution</a:t>
            </a:r>
          </a:p>
          <a:p>
            <a:pPr lvl="1"/>
            <a:r>
              <a:rPr b="0" sz="1600"/>
              <a:t>Lesson 06: Custom Agent from Conversation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Mission #3: Enhance</a:t>
            </a:r>
          </a:p>
          <a:p>
            <a:pPr lvl="1"/>
            <a:r>
              <a:rPr b="0" sz="1600"/>
              <a:t>Lesson 07: Add Topics With Triggers</a:t>
            </a:r>
          </a:p>
          <a:p>
            <a:pPr lvl="1"/>
            <a:r>
              <a:rPr b="0" sz="1600"/>
              <a:t>Lesson 08: Add Adaptive Cards</a:t>
            </a:r>
          </a:p>
          <a:p>
            <a:pPr lvl="1"/>
            <a:r>
              <a:rPr b="0" sz="1600"/>
              <a:t>Lesson 09: Add an Agent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1800"/>
              <a:t>Mission #4: Deploy</a:t>
            </a:r>
          </a:p>
          <a:p>
            <a:pPr lvl="1"/>
            <a:r>
              <a:rPr b="0" sz="1600"/>
              <a:t>Lesson 10: Add Event Triggers</a:t>
            </a:r>
          </a:p>
          <a:p>
            <a:pPr lvl="1"/>
            <a:r>
              <a:rPr b="0" sz="1600"/>
              <a:t>Lesson 11: Publish Your Agent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Mission Complete</a:t>
            </a:r>
          </a:p>
          <a:p>
            <a:pPr lvl="1"/>
            <a:r>
              <a:rPr b="0" sz="1600"/>
              <a:t>Lesson 12: Understanding Licensing</a:t>
            </a:r>
          </a:p>
          <a:p>
            <a:pPr lvl="1"/>
            <a:r>
              <a:rPr b="0" sz="1600"/>
              <a:t>Lesson 13: Claim Your Recruit Badge</a:t>
            </a:r>
          </a:p>
          <a:p>
            <a:pPr lvl="1"/>
            <a:r>
              <a:rPr b="0" sz="1600"/>
              <a:t>Plan your first real agent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Free Play Challenge</a:t>
            </a:r>
          </a:p>
          <a:p>
            <a:pPr lvl="1"/>
            <a:r>
              <a:rPr b="0" sz="1600"/>
              <a:t>Between missions — build your own variation!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FRAGO (Fragmentary Order)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FRAGO communicates only what has changed:</a:t>
            </a:r>
          </a:p>
          <a:p>
            <a:pPr lvl="1"/>
            <a:r>
              <a:rPr b="0" sz="1900"/>
              <a:t>new tasks, updated objectives, shifted conditions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In this workshop, a FRAGO slide means:</a:t>
            </a:r>
          </a:p>
          <a:p>
            <a:pPr lvl="1"/>
            <a:r>
              <a:rPr b="0" sz="1800"/>
              <a:t>the UI changed after the lab guide was written, OR</a:t>
            </a:r>
          </a:p>
          <a:p>
            <a:pPr lvl="1"/>
            <a:r>
              <a:rPr b="0" sz="1800"/>
              <a:t>there is a known glitch — here's the fix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FRAGO overrides the lab guide for that step.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/>
            <a:r>
              <a:rPr b="1" sz="3200"/>
              <a:t>Mission #1:</a:t>
            </a:r>
          </a:p>
          <a:p>
            <a:pPr/>
            <a:r>
              <a:rPr b="1" sz="3200"/>
              <a:t>Your First Agent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05: Using a Pre-Built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Use a prebuilt template to get your first agent running.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Browse the template gallery in Copilot Studio</a:t>
            </a:r>
          </a:p>
          <a:p>
            <a:pPr/>
            <a:r>
              <a:rPr b="0" sz="2000"/>
              <a:t>Pick a template, customise it, and test it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Your first win of the day!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05: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1. Open Copilot Studio</a:t>
            </a:r>
          </a:p>
          <a:p>
            <a:pPr lvl="1"/>
            <a:r>
              <a:rPr b="0" sz="1700"/>
              <a:t>Navigate to your environment → Create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2. Browse Templates</a:t>
            </a:r>
          </a:p>
          <a:p>
            <a:pPr lvl="1"/>
            <a:r>
              <a:rPr b="0" sz="1700"/>
              <a:t>Explore the prebuilt gallery → pick one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3. Customise</a:t>
            </a:r>
          </a:p>
          <a:p>
            <a:pPr lvl="1"/>
            <a:r>
              <a:rPr b="0" sz="1700"/>
              <a:t>Adjust the agent name, greeting, instructions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4. Orchestration Setting</a:t>
            </a:r>
          </a:p>
          <a:p>
            <a:pPr lvl="1"/>
            <a:r>
              <a:rPr b="0" sz="1700"/>
              <a:t>Agent Settings → ensure Generative AI is ON</a:t>
            </a:r>
          </a:p>
          <a:p>
            <a:pPr lvl="1"/>
            <a:r>
              <a:rPr b="0" sz="1600"/>
              <a:t>(Yes — Responses will be dynamic...)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5. Test</a:t>
            </a:r>
          </a:p>
          <a:p>
            <a:pPr lvl="1"/>
            <a:r>
              <a:rPr b="0" sz="1700"/>
              <a:t>Open the test pane</a:t>
            </a:r>
          </a:p>
          <a:p>
            <a:pPr lvl="1"/>
            <a:r>
              <a:rPr b="0" sz="1700"/>
              <a:t>Have a conversation with your agent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🕐  ~30 minutes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FRAGO: Generative AI Orchestration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In Agent Settings → Orchestration, ensure this is selected:</a:t>
            </a:r>
          </a:p>
          <a:p>
            <a:pPr/>
            <a:r>
              <a:rPr b="0" sz="1000"/>
              <a:t/>
            </a:r>
          </a:p>
          <a:p>
            <a:pPr lvl="1"/>
            <a:r>
              <a:rPr b="0" sz="1900"/>
              <a:t>● Yes — Responses will be dynamic, using available</a:t>
            </a:r>
          </a:p>
          <a:p>
            <a:pPr lvl="1"/>
            <a:r>
              <a:rPr b="0" sz="1900"/>
              <a:t>  tools and knowledge as appropriate.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800"/>
              <a:t>If set to "No — Use classic orchestration" your agent</a:t>
            </a:r>
          </a:p>
          <a:p>
            <a:pPr/>
            <a:r>
              <a:rPr b="0" sz="1800"/>
              <a:t>will not use knowledge sources effectively.</a:t>
            </a:r>
          </a:p>
          <a:p>
            <a:pPr/>
            <a:r>
              <a:rPr b="1" sz="1800"/>
              <a:t>Switch it to Yes and Save.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FRAGO: Force Newest Version Dialog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0" sz="2000"/>
              <a:t>When publishing you may see a "Force newest version" checkbox.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This is a new feature (ignore it for this lab).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Click Publish without checking the box.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FRAGO: Open Teams in the Browser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0" sz="2000"/>
              <a:t>If asked to open the Teams desktop app: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200"/>
              <a:t>→  Click "Use the web app instead"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If Teams desktop opens, simply close it.</a:t>
            </a:r>
          </a:p>
          <a:p>
            <a:pPr/>
            <a:r>
              <a:rPr b="0" sz="2000"/>
              <a:t>We use the Teams web app for all publishing steps.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600"/>
              <a:t>Let's Go!  —  Mission 05: Using a Pre-Built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1700"/>
              <a:t>CODENAME:</a:t>
            </a:r>
          </a:p>
          <a:p>
            <a:pPr/>
            <a:r>
              <a:rPr b="0" sz="1600"/>
              <a:t>OPERATION SAFE TRAVELS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TIME:</a:t>
            </a:r>
          </a:p>
          <a:p>
            <a:pPr/>
            <a:r>
              <a:rPr b="0" sz="1600"/>
              <a:t>~30 min  •  Difficulty: ★☆☆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PRODUCTS:</a:t>
            </a:r>
          </a:p>
          <a:p>
            <a:pPr/>
            <a:r>
              <a:rPr b="0" sz="1500"/>
              <a:t>Microsoft Copilot Studio  •  Microsoft 365  •  Microsoft Teams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TAGS:</a:t>
            </a:r>
          </a:p>
          <a:p>
            <a:pPr/>
            <a:r>
              <a:rPr b="0" sz="1600"/>
              <a:t>Prebuilt Agents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0" sz="1600"/>
              <a:t>Scan the QR code or visit: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400"/>
              <a:t>microsoft.github.io/agent-academy/recruit/mission-05</a:t>
            </a:r>
          </a:p>
        </p:txBody>
      </p:sp>
      <p:pic>
        <p:nvPicPr>
          <p:cNvPr id="5" name="Picture 4" descr="imag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725" y="2835663"/>
            <a:ext cx="2800000" cy="3000000"/>
          </a:xfrm>
          <a:prstGeom prst="rect">
            <a:avLst/>
          </a:prstGeom>
        </p:spPr>
      </p:pic>
      <p:pic>
        <p:nvPicPr>
          <p:cNvPr id="6" name="Picture 5" descr="image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161" y="1900213"/>
            <a:ext cx="14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Mission Debrief #1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Mission Debrief #1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Q1: What are the four building blocks in Copilot Studio?</a:t>
            </a:r>
          </a:p>
          <a:p>
            <a:pPr/>
            <a:r>
              <a:rPr b="0" sz="2000"/>
              <a:t>Q2: Declarative vs. autonomous — key difference?</a:t>
            </a:r>
          </a:p>
          <a:p>
            <a:pPr/>
            <a:r>
              <a:rPr b="0" sz="2000"/>
              <a:t>Q3: What did you customise in your prebuilt agent?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Pair up:</a:t>
            </a:r>
          </a:p>
          <a:p>
            <a:pPr/>
            <a:r>
              <a:rPr b="0" sz="1900"/>
              <a:t>Share what you built with the person next to you.</a:t>
            </a:r>
          </a:p>
          <a:p>
            <a:pPr/>
            <a:r>
              <a:rPr b="0" sz="1200"/>
              <a:t/>
            </a:r>
          </a:p>
          <a:p>
            <a:pPr/>
            <a:r>
              <a:rPr b="0" sz="1900"/>
              <a:t>Take turns demoing — 2 minutes each.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/>
            <a:r>
              <a:rPr b="1" sz="3200"/>
              <a:t>Mission #2: Build</a:t>
            </a:r>
          </a:p>
          <a:p>
            <a:pPr/>
            <a:r>
              <a:rPr b="1" sz="3200"/>
              <a:t>Creating &amp; Packaging Agents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03: Create a Declarative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Build an agent grounded in a system prompt.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You write the instructions — the agent's personality and purpose</a:t>
            </a:r>
          </a:p>
          <a:p>
            <a:pPr/>
            <a:r>
              <a:rPr b="0" sz="2000"/>
              <a:t>Connect it to Microsoft 365 Copilot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Key skill: prompt engineering for agents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03: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1. Create a new agent</a:t>
            </a:r>
          </a:p>
          <a:p>
            <a:pPr lvl="1"/>
            <a:r>
              <a:rPr b="0" sz="1700"/>
              <a:t>Start from blank → name your agent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2. Write the system prompt</a:t>
            </a:r>
          </a:p>
          <a:p>
            <a:pPr lvl="1"/>
            <a:r>
              <a:rPr b="0" sz="1700"/>
              <a:t>Define purpose, tone, and boundaries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3. Add to M365 Copilot</a:t>
            </a:r>
          </a:p>
          <a:p>
            <a:pPr lvl="1"/>
            <a:r>
              <a:rPr b="0" sz="1700"/>
              <a:t>Configure the declarative agent channel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4. Test in Copilot</a:t>
            </a:r>
          </a:p>
          <a:p>
            <a:pPr lvl="1"/>
            <a:r>
              <a:rPr b="0" sz="1700"/>
              <a:t>Verify the agent responds correctly</a:t>
            </a:r>
          </a:p>
          <a:p>
            <a:pPr lvl="1"/>
            <a:r>
              <a:rPr b="0" sz="1700"/>
              <a:t>within M365 Copilot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Good prompting principles:</a:t>
            </a:r>
          </a:p>
          <a:p>
            <a:pPr lvl="1"/>
            <a:r>
              <a:rPr b="0" sz="1600"/>
              <a:t>Be specific about scope and tone</a:t>
            </a:r>
          </a:p>
          <a:p>
            <a:pPr lvl="1"/>
            <a:r>
              <a:rPr b="0" sz="1600"/>
              <a:t>Define what the agent should NOT do</a:t>
            </a:r>
          </a:p>
          <a:p>
            <a:pPr lvl="1"/>
            <a:r>
              <a:rPr b="0" sz="1600"/>
              <a:t>Set the knowledge grounding rules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🕐  ~60 minutes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FRAGO: Publish to Teams — Modal Failure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0" sz="2000"/>
              <a:t>If publishing to Teams shows an error modal: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→  Close the modal using the X (top-right corner)</a:t>
            </a:r>
          </a:p>
          <a:p>
            <a:pPr/>
            <a:r>
              <a:rPr b="1" sz="2000"/>
              <a:t>→  Wait 1–2 minutes for Teams to catch up</a:t>
            </a:r>
          </a:p>
          <a:p>
            <a:pPr/>
            <a:r>
              <a:rPr b="1" sz="2000"/>
              <a:t>→  Publish again from Copilot Studio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800"/>
              <a:t>Teams propagation takes a few minutes. Be patient!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FRAGO: Developer Mode Delay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0" sz="2000"/>
              <a:t>If your declarative agent doesn't appear in M365 Copilot: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→  Wait 2–3 minutes and refresh</a:t>
            </a:r>
          </a:p>
          <a:p>
            <a:pPr/>
            <a:r>
              <a:rPr b="1" sz="2000"/>
              <a:t>→  Publish the agent again from Copilot Studio</a:t>
            </a:r>
          </a:p>
          <a:p>
            <a:pPr/>
            <a:r>
              <a:rPr b="1" sz="2000"/>
              <a:t>→  Try in a fresh browser tab or incognito window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800"/>
              <a:t>Known delay in tenant propagation. Not a failure!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600"/>
              <a:t>Let's Go!  —  Mission 03: Deploy a Declarative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1700"/>
              <a:t>CODENAME:</a:t>
            </a:r>
          </a:p>
          <a:p>
            <a:pPr/>
            <a:r>
              <a:rPr b="0" sz="1600"/>
              <a:t>OPERATION COPILOT EXTENSION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TIME:</a:t>
            </a:r>
          </a:p>
          <a:p>
            <a:pPr/>
            <a:r>
              <a:rPr b="0" sz="1600"/>
              <a:t>~60 min  •  Difficulty: ★☆☆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PRODUCTS:</a:t>
            </a:r>
          </a:p>
          <a:p>
            <a:pPr/>
            <a:r>
              <a:rPr b="0" sz="1500"/>
              <a:t>Microsoft Copilot Studio  •  Microsoft 365  •  Teams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TAGS:</a:t>
            </a:r>
          </a:p>
          <a:p>
            <a:pPr/>
            <a:r>
              <a:rPr b="0" sz="1600"/>
              <a:t>Declarative Agents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0" sz="1600"/>
              <a:t>Scan the QR code or visit: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400"/>
              <a:t>microsoft.github.io/agent-academy/recruit/mission-03</a:t>
            </a:r>
          </a:p>
        </p:txBody>
      </p:sp>
      <p:pic>
        <p:nvPicPr>
          <p:cNvPr id="5" name="Picture 4" descr="imag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725" y="2835663"/>
            <a:ext cx="2800000" cy="3000000"/>
          </a:xfrm>
          <a:prstGeom prst="rect">
            <a:avLst/>
          </a:prstGeom>
        </p:spPr>
      </p:pic>
      <p:pic>
        <p:nvPicPr>
          <p:cNvPr id="6" name="Picture 5" descr="image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161" y="1900213"/>
            <a:ext cx="14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04: Creating a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Solutions package your agent for reuse and deployment.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Move agents between environments  (dev → test → production)</a:t>
            </a:r>
          </a:p>
          <a:p>
            <a:pPr/>
            <a:r>
              <a:rPr b="0" sz="2000"/>
              <a:t>Manage dependencies and version control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Think of it as the shipping container for your agent.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04: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1. Create a new solution</a:t>
            </a:r>
          </a:p>
          <a:p>
            <a:pPr lvl="1"/>
            <a:r>
              <a:rPr b="0" sz="1700"/>
              <a:t>Power Apps maker portal → Solutions → New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2. Add your agent</a:t>
            </a:r>
          </a:p>
          <a:p>
            <a:pPr lvl="1"/>
            <a:r>
              <a:rPr b="0" sz="1700"/>
              <a:t>Add → Existing → Bot → your agent</a:t>
            </a:r>
          </a:p>
          <a:p>
            <a:pPr lvl="1"/>
            <a:r>
              <a:rPr b="0" sz="1700"/>
              <a:t>Include all dependencies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3. Set as preferred solution</a:t>
            </a:r>
          </a:p>
          <a:p>
            <a:pPr lvl="1"/>
            <a:r>
              <a:rPr b="0" sz="1700"/>
              <a:t>Settings → Advanced → Preferred 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4. Review components</a:t>
            </a:r>
          </a:p>
          <a:p>
            <a:pPr lvl="1"/>
            <a:r>
              <a:rPr b="0" sz="1700"/>
              <a:t>Agent, topics, connections, flows</a:t>
            </a:r>
          </a:p>
          <a:p>
            <a:pPr lvl="1"/>
            <a:r>
              <a:rPr b="0" sz="1700"/>
              <a:t>Everything that travels together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5. Export (optional)</a:t>
            </a:r>
          </a:p>
          <a:p>
            <a:pPr lvl="1"/>
            <a:r>
              <a:rPr b="0" sz="1700"/>
              <a:t>Managed or unmanaged ZIP</a:t>
            </a:r>
          </a:p>
          <a:p>
            <a:pPr lvl="1"/>
            <a:r>
              <a:rPr b="0" sz="1600"/>
              <a:t>Managed = no customisation in target env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🕐  ~45 minutes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600"/>
              <a:t>Let's Go!  —  Mission 04: Creating a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1700"/>
              <a:t>CODENAME:</a:t>
            </a:r>
          </a:p>
          <a:p>
            <a:pPr/>
            <a:r>
              <a:rPr b="0" sz="1600"/>
              <a:t>OPERATION CTRL-ALT-PACKAGE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TIME:</a:t>
            </a:r>
          </a:p>
          <a:p>
            <a:pPr/>
            <a:r>
              <a:rPr b="0" sz="1600"/>
              <a:t>~45 min  •  Difficulty: ★☆☆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PRODUCTS:</a:t>
            </a:r>
          </a:p>
          <a:p>
            <a:pPr/>
            <a:r>
              <a:rPr b="0" sz="1500"/>
              <a:t>Microsoft Copilot Studio  •  Microsoft Power Platform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TAGS:</a:t>
            </a:r>
          </a:p>
          <a:p>
            <a:pPr/>
            <a:r>
              <a:rPr b="0" sz="1600"/>
              <a:t>Solutions  •  ALM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0" sz="1600"/>
              <a:t>Scan the QR code or visit: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400"/>
              <a:t>microsoft.github.io/agent-academy/recruit/mission-04</a:t>
            </a:r>
          </a:p>
        </p:txBody>
      </p:sp>
      <p:pic>
        <p:nvPicPr>
          <p:cNvPr id="5" name="Picture 4" descr="imag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725" y="2835663"/>
            <a:ext cx="2800000" cy="3000000"/>
          </a:xfrm>
          <a:prstGeom prst="rect">
            <a:avLst/>
          </a:prstGeom>
        </p:spPr>
      </p:pic>
      <p:pic>
        <p:nvPicPr>
          <p:cNvPr id="6" name="Picture 5" descr="image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161" y="1900213"/>
            <a:ext cx="14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06: Create Agent from Conversation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Build an agent grounded in knowledge sources.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Connect SharePoint, files, or websites as knowledge</a:t>
            </a:r>
          </a:p>
          <a:p>
            <a:pPr/>
            <a:r>
              <a:rPr b="0" sz="2000"/>
              <a:t>The agent uses RAG to retrieve and generate answers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This is where agents get smart.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FRAGO: Set the AI Model to GPT-4.1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During agent creation, verify the AI model is GPT-4.1:</a:t>
            </a:r>
          </a:p>
          <a:p>
            <a:pPr/>
            <a:r>
              <a:rPr b="0" sz="1000"/>
              <a:t/>
            </a:r>
          </a:p>
          <a:p>
            <a:pPr lvl="1"/>
            <a:r>
              <a:rPr b="0" sz="1800"/>
              <a:t>Overview page → Details → "Select your agent's model"</a:t>
            </a:r>
          </a:p>
          <a:p>
            <a:pPr lvl="1"/>
            <a:r>
              <a:rPr b="0" sz="1800"/>
              <a:t>Choose GPT-4.1 from the dropdown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800"/>
              <a:t>GPT-4o was retired in October 2025.</a:t>
            </a:r>
          </a:p>
          <a:p>
            <a:pPr/>
            <a:r>
              <a:rPr b="1" sz="1800"/>
              <a:t>GPT-4.1 is the current default — verify it is selected.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06: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1. Home → describe your agent</a:t>
            </a:r>
          </a:p>
          <a:p>
            <a:pPr lvl="1"/>
            <a:r>
              <a:rPr b="0" sz="1700"/>
              <a:t>Type what you want it to do in natural language</a:t>
            </a:r>
          </a:p>
          <a:p>
            <a:pPr lvl="1"/>
            <a:r>
              <a:rPr b="0" sz="1700"/>
              <a:t>AI provisions name, instructions, knowledge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2. Review AI suggestions</a:t>
            </a:r>
          </a:p>
          <a:p>
            <a:pPr lvl="1"/>
            <a:r>
              <a:rPr b="0" sz="1700"/>
              <a:t>Accept or dismiss each suggestion</a:t>
            </a:r>
          </a:p>
          <a:p>
            <a:pPr lvl="1"/>
            <a:r>
              <a:rPr b="0" sz="1600"/>
              <a:t>Suggestions are session-only — don't dismiss accidentally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3. Add knowledge sources</a:t>
            </a:r>
          </a:p>
          <a:p>
            <a:pPr lvl="1"/>
            <a:r>
              <a:rPr b="0" sz="1700"/>
              <a:t>Knowledge → + Add knowledge → SharePoint</a:t>
            </a:r>
          </a:p>
          <a:p>
            <a:pPr lvl="1"/>
            <a:r>
              <a:rPr b="0" sz="1700"/>
              <a:t>Enter your SharePoint site URL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4. Test with real questions</a:t>
            </a:r>
          </a:p>
          <a:p>
            <a:pPr lvl="1"/>
            <a:r>
              <a:rPr b="0" sz="1700"/>
              <a:t>Ask something only in your SharePoint data</a:t>
            </a:r>
          </a:p>
          <a:p>
            <a:pPr lvl="1"/>
            <a:r>
              <a:rPr b="0" sz="1700"/>
              <a:t>Check sources cited in the response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🕐  ~75 minutes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600"/>
              <a:t>Let's Go!  —  Mission 06: Create a Custom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1700"/>
              <a:t>CODENAME:</a:t>
            </a:r>
          </a:p>
          <a:p>
            <a:pPr/>
            <a:r>
              <a:rPr b="0" sz="1600"/>
              <a:t>OPERATION AGENT FORGE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TIME:</a:t>
            </a:r>
          </a:p>
          <a:p>
            <a:pPr/>
            <a:r>
              <a:rPr b="0" sz="1600"/>
              <a:t>~75 min  •  Difficulty: ★☆☆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PRODUCTS:</a:t>
            </a:r>
          </a:p>
          <a:p>
            <a:pPr/>
            <a:r>
              <a:rPr b="0" sz="1500"/>
              <a:t>Microsoft Copilot Studio  •  SharePoint  •  Microsoft Learn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TAGS:</a:t>
            </a:r>
          </a:p>
          <a:p>
            <a:pPr/>
            <a:r>
              <a:rPr b="0" sz="1600"/>
              <a:t>Declarative Agents  •  Knowledge Grounding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0" sz="1600"/>
              <a:t>Scan the QR code or visit: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400"/>
              <a:t>microsoft.github.io/agent-academy/recruit/mission-06</a:t>
            </a:r>
          </a:p>
        </p:txBody>
      </p:sp>
      <p:pic>
        <p:nvPicPr>
          <p:cNvPr id="5" name="Picture 4" descr="imag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725" y="2835663"/>
            <a:ext cx="2800000" cy="3000000"/>
          </a:xfrm>
          <a:prstGeom prst="rect">
            <a:avLst/>
          </a:prstGeom>
        </p:spPr>
      </p:pic>
      <p:pic>
        <p:nvPicPr>
          <p:cNvPr id="6" name="Picture 5" descr="image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161" y="1900213"/>
            <a:ext cx="14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Mission Debrief #2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Mission Debrief #2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Q1: What is the role of a system prompt in a declarative agent?</a:t>
            </a:r>
          </a:p>
          <a:p>
            <a:pPr/>
            <a:r>
              <a:rPr b="0" sz="2000"/>
              <a:t>Q2: Why package an agent into a solution?</a:t>
            </a:r>
          </a:p>
          <a:p>
            <a:pPr/>
            <a:r>
              <a:rPr b="0" sz="2000"/>
              <a:t>Q3: How does knowledge grounding change agent answers?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Share your IT Help Desk agent:</a:t>
            </a:r>
          </a:p>
          <a:p>
            <a:pPr/>
            <a:r>
              <a:rPr b="0" sz="1800"/>
              <a:t>Ask it something only answerable</a:t>
            </a:r>
          </a:p>
          <a:p>
            <a:pPr/>
            <a:r>
              <a:rPr b="0" sz="1800"/>
              <a:t>from the SharePoint knowledge source.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1800"/>
              <a:t>Did it cite a source? Did it get it right?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/>
            <a:r>
              <a:rPr b="1" sz="3200"/>
              <a:t>Mission #3: Enhance</a:t>
            </a:r>
          </a:p>
          <a:p>
            <a:pPr/>
            <a:r>
              <a:rPr b="1" sz="3200"/>
              <a:t>Topics, Cards &amp; Flows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07: Add Topics With Triggers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Topics let you control exactly how the agent responds.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Define custom question-and-answer paths</a:t>
            </a:r>
          </a:p>
          <a:p>
            <a:pPr/>
            <a:r>
              <a:rPr b="0" sz="2000"/>
              <a:t>Triggers detect when a user asks about a subject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When AI alone isn't enough — Topics give you precision.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07: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1. Topics tab → + Add a topic → From blank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2. Name it and add trigger phrases</a:t>
            </a:r>
          </a:p>
          <a:p>
            <a:pPr lvl="1"/>
            <a:r>
              <a:rPr b="0" sz="1700"/>
              <a:t>Phrases the user might say to start this topic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3. Build the conversation flow</a:t>
            </a:r>
          </a:p>
          <a:p>
            <a:pPr lvl="1"/>
            <a:r>
              <a:rPr b="0" sz="1700"/>
              <a:t>Message nodes, Question nodes, Conditions</a:t>
            </a:r>
          </a:p>
          <a:p>
            <a:pPr lvl="1"/>
            <a:r>
              <a:rPr b="0" sz="1700"/>
              <a:t>Add branching logic by user response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1800"/>
              <a:t>4. Add Power Fx filter (Adaptive Card lab)</a:t>
            </a:r>
          </a:p>
          <a:p>
            <a:pPr lvl="1"/>
            <a:r>
              <a:rPr b="0" sz="1400"/>
              <a:t>Concatenate("Status eq 'Available'</a:t>
            </a:r>
          </a:p>
          <a:p>
            <a:pPr lvl="1"/>
            <a:r>
              <a:rPr b="0" sz="1400"/>
              <a:t> and AssetType eq '", Topic.VarDeviceType, "'")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5. Test your topic</a:t>
            </a:r>
          </a:p>
          <a:p>
            <a:pPr lvl="1"/>
            <a:r>
              <a:rPr b="0" sz="1700"/>
              <a:t>Trigger the topic from the test pane</a:t>
            </a:r>
          </a:p>
          <a:p>
            <a:pPr lvl="1"/>
            <a:r>
              <a:rPr b="0" sz="1700"/>
              <a:t>Walk through the full conversation path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🕐  ~60 minutes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600"/>
              <a:t>Let's Go!  —  Mission 07: Add a Topic with Triggers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1700"/>
              <a:t>CODENAME:</a:t>
            </a:r>
          </a:p>
          <a:p>
            <a:pPr/>
            <a:r>
              <a:rPr b="0" sz="1600"/>
              <a:t>OPERATION STAY ON TOPIC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TIME:</a:t>
            </a:r>
          </a:p>
          <a:p>
            <a:pPr/>
            <a:r>
              <a:rPr b="0" sz="1600"/>
              <a:t>~60 min  •  Difficulty: ★☆☆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PRODUCTS:</a:t>
            </a:r>
          </a:p>
          <a:p>
            <a:pPr/>
            <a:r>
              <a:rPr b="0" sz="1500"/>
              <a:t>Microsoft Copilot Studio  •  SharePoint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TAGS:</a:t>
            </a:r>
          </a:p>
          <a:p>
            <a:pPr/>
            <a:r>
              <a:rPr b="0" sz="1600"/>
              <a:t>Topics &amp; Dialogs  •  Triggers  •  Power Fx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0" sz="1600"/>
              <a:t>Scan the QR code or visit: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400"/>
              <a:t>microsoft.github.io/agent-academy/recruit/mission-07</a:t>
            </a:r>
          </a:p>
        </p:txBody>
      </p:sp>
      <p:pic>
        <p:nvPicPr>
          <p:cNvPr id="5" name="Picture 4" descr="imag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725" y="2835663"/>
            <a:ext cx="2800000" cy="3000000"/>
          </a:xfrm>
          <a:prstGeom prst="rect">
            <a:avLst/>
          </a:prstGeom>
        </p:spPr>
      </p:pic>
      <p:pic>
        <p:nvPicPr>
          <p:cNvPr id="6" name="Picture 5" descr="image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161" y="1900213"/>
            <a:ext cx="14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08: Add Adaptive Cards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Adaptive Cards give your agent a rich, interactive UI.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Display forms, buttons, and data inside the chat</a:t>
            </a:r>
          </a:p>
          <a:p>
            <a:pPr/>
            <a:r>
              <a:rPr b="0" sz="2000"/>
              <a:t>Use Power Fx to bind card data to SharePoint lists</a:t>
            </a:r>
          </a:p>
          <a:p>
            <a:pPr/>
            <a:r>
              <a:rPr b="0" sz="2000"/>
              <a:t>Collect structured input — not just free text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This is where your agent starts looking professional.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08: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1. Design the Adaptive Card</a:t>
            </a:r>
          </a:p>
          <a:p>
            <a:pPr lvl="1"/>
            <a:r>
              <a:rPr b="0" sz="1700"/>
              <a:t>Use Adaptive Card Designer or build in Copilot Studio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2. Bind to SharePoint data</a:t>
            </a:r>
          </a:p>
          <a:p>
            <a:pPr lvl="1"/>
            <a:r>
              <a:rPr b="0" sz="1700"/>
              <a:t>Power Fx to pull list items into the card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3. Add card to your topic</a:t>
            </a:r>
          </a:p>
          <a:p>
            <a:pPr lvl="1"/>
            <a:r>
              <a:rPr b="0" sz="1700"/>
              <a:t>Insert as a Message node in your conversation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4. Handle user input</a:t>
            </a:r>
          </a:p>
          <a:p>
            <a:pPr lvl="1"/>
            <a:r>
              <a:rPr b="0" sz="1700"/>
              <a:t>Capture what the user submits via the card</a:t>
            </a:r>
          </a:p>
          <a:p>
            <a:pPr lvl="1"/>
            <a:r>
              <a:rPr b="0" sz="1700"/>
              <a:t>Store in topic variables for downstream use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Timing note:</a:t>
            </a:r>
          </a:p>
          <a:p>
            <a:pPr/>
            <a:r>
              <a:rPr b="0" sz="1700"/>
              <a:t>This lab typically takes 60–90 min.</a:t>
            </a:r>
          </a:p>
          <a:p>
            <a:pPr/>
            <a:r>
              <a:rPr b="0" sz="1700"/>
              <a:t>Allocate buffer time — new to JSON? Longer.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🕐  ~45 min  (allow up to 90)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600"/>
              <a:t>Let's Go!  —  Mission 08: Enhance with Adaptive Cards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1700"/>
              <a:t>CODENAME:</a:t>
            </a:r>
          </a:p>
          <a:p>
            <a:pPr/>
            <a:r>
              <a:rPr b="0" sz="1600"/>
              <a:t>OPERATION INTERFACE UPLIFT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TIME:</a:t>
            </a:r>
          </a:p>
          <a:p>
            <a:pPr/>
            <a:r>
              <a:rPr b="0" sz="1600"/>
              <a:t>~45–90 min  •  Difficulty: ★☆☆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PRODUCTS:</a:t>
            </a:r>
          </a:p>
          <a:p>
            <a:pPr/>
            <a:r>
              <a:rPr b="0" sz="1500"/>
              <a:t>Microsoft Copilot Studio  •  SharePoint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TAGS:</a:t>
            </a:r>
          </a:p>
          <a:p>
            <a:pPr/>
            <a:r>
              <a:rPr b="0" sz="1600"/>
              <a:t>Adaptive Cards  •  Power Fx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0" sz="1600"/>
              <a:t>Scan the QR code or visit: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400"/>
              <a:t>microsoft.github.io/agent-academy/recruit/mission-08</a:t>
            </a:r>
          </a:p>
        </p:txBody>
      </p:sp>
      <p:pic>
        <p:nvPicPr>
          <p:cNvPr id="5" name="Picture 4" descr="imag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725" y="2835663"/>
            <a:ext cx="2800000" cy="3000000"/>
          </a:xfrm>
          <a:prstGeom prst="rect">
            <a:avLst/>
          </a:prstGeom>
        </p:spPr>
      </p:pic>
      <p:pic>
        <p:nvPicPr>
          <p:cNvPr id="6" name="Picture 5" descr="image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161" y="1900213"/>
            <a:ext cx="14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09: Add an Agent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Agent Flows connect your agent to back-end automation.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Trigger Power Automate directly from a conversation</a:t>
            </a:r>
          </a:p>
          <a:p>
            <a:pPr/>
            <a:r>
              <a:rPr b="0" sz="2000"/>
              <a:t>Pass Adaptive Card input to a flow for processing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Your agent can now do things — not just talk.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What's New: Agent Flows vs. Workflows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Agent Flows  ✅  GA — use these today</a:t>
            </a:r>
          </a:p>
          <a:p>
            <a:pPr/>
            <a:r>
              <a:rPr b="0" sz="800"/>
              <a:t/>
            </a:r>
          </a:p>
          <a:p>
            <a:pPr/>
            <a:r>
              <a:rPr b="0" sz="1800"/>
              <a:t>Power Automate-style canvas</a:t>
            </a:r>
          </a:p>
          <a:p>
            <a:pPr/>
            <a:r>
              <a:rPr b="0" sz="1800"/>
              <a:t>Available in all environments</a:t>
            </a:r>
          </a:p>
          <a:p>
            <a:pPr/>
            <a:r>
              <a:rPr b="0" sz="1800"/>
              <a:t>Tightly integrated with topic nodes</a:t>
            </a:r>
          </a:p>
          <a:p>
            <a:pPr/>
            <a:r>
              <a:rPr b="0" sz="1800"/>
              <a:t>Billed within Copilot Studio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Left sidebar → Flows → New Agent flow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Workflows  🔬  Preview — early release only</a:t>
            </a:r>
          </a:p>
          <a:p>
            <a:pPr/>
            <a:r>
              <a:rPr b="0" sz="800"/>
              <a:t/>
            </a:r>
          </a:p>
          <a:p>
            <a:pPr/>
            <a:r>
              <a:rPr b="0" sz="1800"/>
              <a:t>New redesigned visual canvas</a:t>
            </a:r>
          </a:p>
          <a:p>
            <a:pPr/>
            <a:r>
              <a:rPr b="0" sz="1800"/>
              <a:t>Agent nodes + Prompt nodes</a:t>
            </a:r>
          </a:p>
          <a:p>
            <a:pPr/>
            <a:r>
              <a:rPr b="0" sz="1800"/>
              <a:t>Node-level testing</a:t>
            </a:r>
          </a:p>
          <a:p>
            <a:pPr/>
            <a:r>
              <a:rPr b="0" sz="1800"/>
              <a:t>Early-release environments only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If you see it: explore after the lab!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09: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1. In the topic: + → Add a tool → New Agent flow</a:t>
            </a:r>
          </a:p>
          <a:p>
            <a:pPr lvl="1"/>
            <a:r>
              <a:rPr b="0" sz="1700"/>
              <a:t>Agent Flows designer opens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2. Add a Send Email action</a:t>
            </a:r>
          </a:p>
          <a:p>
            <a:pPr lvl="1"/>
            <a:r>
              <a:rPr b="0" sz="1700"/>
              <a:t>Use the Office 365 Outlook connector</a:t>
            </a:r>
          </a:p>
          <a:p>
            <a:pPr lvl="1"/>
            <a:r>
              <a:rPr b="0" sz="1700"/>
              <a:t>Configure recipients, subject, body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3. Publish the flow</a:t>
            </a:r>
          </a:p>
          <a:p>
            <a:pPr lvl="1"/>
            <a:r>
              <a:rPr b="0" sz="1700"/>
              <a:t>Save, publish, return to Copilot Studio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4. Connect flow to topic</a:t>
            </a:r>
          </a:p>
          <a:p>
            <a:pPr lvl="1"/>
            <a:r>
              <a:rPr b="0" sz="1700"/>
              <a:t>Add a tool → select your published flow</a:t>
            </a:r>
          </a:p>
          <a:p>
            <a:pPr lvl="1"/>
            <a:r>
              <a:rPr b="0" sz="1700"/>
              <a:t>Map Adaptive Card variables to flow inputs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5. Test end-to-end</a:t>
            </a:r>
          </a:p>
          <a:p>
            <a:pPr lvl="1"/>
            <a:r>
              <a:rPr b="0" sz="1700"/>
              <a:t>Chat → Card → Submit → Flow → Email</a:t>
            </a:r>
          </a:p>
          <a:p>
            <a:pPr lvl="1"/>
            <a:r>
              <a:rPr b="1" sz="1700"/>
              <a:t>The full loop!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🕐  ~30 minutes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600"/>
              <a:t>Let's Go!  —  Mission 09: Add an Agent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1700"/>
              <a:t>CODENAME:</a:t>
            </a:r>
          </a:p>
          <a:p>
            <a:pPr/>
            <a:r>
              <a:rPr b="0" sz="1600"/>
              <a:t>OPERATION AUTOMATION POWERHOUSE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TIME:</a:t>
            </a:r>
          </a:p>
          <a:p>
            <a:pPr/>
            <a:r>
              <a:rPr b="0" sz="1600"/>
              <a:t>~30 min  •  Difficulty: ★☆☆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PRODUCTS:</a:t>
            </a:r>
          </a:p>
          <a:p>
            <a:pPr/>
            <a:r>
              <a:rPr b="0" sz="1500"/>
              <a:t>Copilot Studio  •  Power Automate  •  Outlook  •  SharePoint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TAGS:</a:t>
            </a:r>
          </a:p>
          <a:p>
            <a:pPr/>
            <a:r>
              <a:rPr b="0" sz="1600"/>
              <a:t>Automation  •  Agent Flows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0" sz="1600"/>
              <a:t>Scan the QR code or visit: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400"/>
              <a:t>microsoft.github.io/agent-academy/recruit/mission-09</a:t>
            </a:r>
          </a:p>
        </p:txBody>
      </p:sp>
      <p:pic>
        <p:nvPicPr>
          <p:cNvPr id="5" name="Picture 4" descr="imag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725" y="2835663"/>
            <a:ext cx="2800000" cy="3000000"/>
          </a:xfrm>
          <a:prstGeom prst="rect">
            <a:avLst/>
          </a:prstGeom>
        </p:spPr>
      </p:pic>
      <p:pic>
        <p:nvPicPr>
          <p:cNvPr id="6" name="Picture 5" descr="image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161" y="1900213"/>
            <a:ext cx="14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Mission Debrief #3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Mission Debrief #3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Q1: What is a Topic trigger, and when would you use one?</a:t>
            </a:r>
          </a:p>
          <a:p>
            <a:pPr/>
            <a:r>
              <a:rPr b="0" sz="2000"/>
              <a:t>Q2: How do Adaptive Cards improve the user experience?</a:t>
            </a:r>
          </a:p>
          <a:p>
            <a:pPr/>
            <a:r>
              <a:rPr b="0" sz="2000"/>
              <a:t>Q3: What connects a card submission to a back-end action?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Demo your end-to-end flow:</a:t>
            </a:r>
          </a:p>
          <a:p>
            <a:pPr/>
            <a:r>
              <a:rPr b="0" sz="1800"/>
              <a:t>Chat → Card → Submit → Email sent.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1800"/>
              <a:t>2 minutes each — show your neighbour!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/>
            <a:r>
              <a:rPr b="1" sz="3200"/>
              <a:t>Mission #4: Deploy</a:t>
            </a:r>
          </a:p>
          <a:p>
            <a:pPr/>
            <a:r>
              <a:rPr b="1" sz="3200"/>
              <a:t>Events, Publishing &amp; Going Rogue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10: Add Event Triggers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Event triggers make your agent act on its own.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Respond to things that happen — not just questions</a:t>
            </a:r>
          </a:p>
          <a:p>
            <a:pPr/>
            <a:r>
              <a:rPr b="0" sz="2000"/>
              <a:t>A new SharePoint item, a schedule, an external event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The agent doesn't wait to be asked — it acts.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FRAGO: Author / Created By Column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0" sz="2000"/>
              <a:t>When testing the trigger, the flow may fail:</a:t>
            </a:r>
          </a:p>
          <a:p>
            <a:pPr/>
            <a:r>
              <a:rPr b="1" sz="1900"/>
              <a:t>"Author Display Name" is not available in the SharePoint list view.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Fix: Add "Created By" to the All Items list view.</a:t>
            </a:r>
          </a:p>
          <a:p>
            <a:pPr/>
            <a:r>
              <a:rPr b="0" sz="1000"/>
              <a:t/>
            </a:r>
          </a:p>
          <a:p>
            <a:pPr lvl="1"/>
            <a:r>
              <a:rPr b="0" sz="1700"/>
              <a:t>Open the Tickets list → All Items view → Edit columns</a:t>
            </a:r>
          </a:p>
          <a:p>
            <a:pPr lvl="1"/>
            <a:r>
              <a:rPr b="0" sz="1700"/>
              <a:t>→  Add "Created By"  →  Save</a:t>
            </a:r>
          </a:p>
          <a:p>
            <a:pPr/>
            <a:r>
              <a:rPr b="0" sz="1800"/>
              <a:t>Then re-test your trigger.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10: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1. Overview page → Triggers → + Add trigger</a:t>
            </a:r>
          </a:p>
          <a:p>
            <a:pPr lvl="1"/>
            <a:r>
              <a:rPr b="0" sz="1700"/>
              <a:t>Search for "SharePoint"</a:t>
            </a:r>
          </a:p>
          <a:p>
            <a:pPr lvl="1"/>
            <a:r>
              <a:rPr b="0" sz="1700"/>
              <a:t>Select "When an item is created"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2. Configure the trigger</a:t>
            </a:r>
          </a:p>
          <a:p>
            <a:pPr lvl="1"/>
            <a:r>
              <a:rPr b="0" sz="1700"/>
              <a:t>SharePoint site URL + list name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3. Build the autonomous action</a:t>
            </a:r>
          </a:p>
          <a:p>
            <a:pPr lvl="1"/>
            <a:r>
              <a:rPr b="0" sz="1700"/>
              <a:t>Send an email via Outlook connector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4. Test the trigger</a:t>
            </a:r>
          </a:p>
          <a:p>
            <a:pPr lvl="1"/>
            <a:r>
              <a:rPr b="0" sz="1700"/>
              <a:t>Add a new item to SharePoint list</a:t>
            </a:r>
          </a:p>
          <a:p>
            <a:pPr lvl="1"/>
            <a:r>
              <a:rPr b="0" sz="1700"/>
              <a:t>Wait for email notification to arrive</a:t>
            </a:r>
          </a:p>
          <a:p>
            <a:pPr lvl="1"/>
            <a:r>
              <a:rPr b="0" sz="1700"/>
              <a:t>"Test Trigger" icon on the trigger card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Important:</a:t>
            </a:r>
          </a:p>
          <a:p>
            <a:pPr lvl="1"/>
            <a:r>
              <a:rPr b="0" sz="1600"/>
              <a:t>Generative AI must be ON (Settings → Orchestration)</a:t>
            </a:r>
          </a:p>
          <a:p>
            <a:pPr lvl="1"/>
            <a:r>
              <a:rPr b="0" sz="1600"/>
              <a:t>Cloud flow is created automatically behind scenes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🕐  ~45 minutes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600"/>
              <a:t>Let's Go!  —  Mission 10: Add Event Triggers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1700"/>
              <a:t>CODENAME:</a:t>
            </a:r>
          </a:p>
          <a:p>
            <a:pPr/>
            <a:r>
              <a:rPr b="0" sz="1600"/>
              <a:t>OPERATION GHOST ROUTINE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TIME:</a:t>
            </a:r>
          </a:p>
          <a:p>
            <a:pPr/>
            <a:r>
              <a:rPr b="0" sz="1600"/>
              <a:t>~45 min  •  Difficulty: ★☆☆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PRODUCTS:</a:t>
            </a:r>
          </a:p>
          <a:p>
            <a:pPr/>
            <a:r>
              <a:rPr b="0" sz="1500"/>
              <a:t>Copilot Studio  •  Power Automate  •  Outlook  •  SharePoint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TAGS:</a:t>
            </a:r>
          </a:p>
          <a:p>
            <a:pPr/>
            <a:r>
              <a:rPr b="0" sz="1600"/>
              <a:t>Automation  •  Triggers  •  Autonomous Agents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0" sz="1600"/>
              <a:t>Scan the QR code or visit: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400"/>
              <a:t>microsoft.github.io/agent-academy/recruit/mission-10</a:t>
            </a:r>
          </a:p>
        </p:txBody>
      </p:sp>
      <p:pic>
        <p:nvPicPr>
          <p:cNvPr id="5" name="Picture 4" descr="imag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725" y="2835663"/>
            <a:ext cx="2800000" cy="3000000"/>
          </a:xfrm>
          <a:prstGeom prst="rect">
            <a:avLst/>
          </a:prstGeom>
        </p:spPr>
      </p:pic>
      <p:pic>
        <p:nvPicPr>
          <p:cNvPr id="6" name="Picture 5" descr="image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161" y="1900213"/>
            <a:ext cx="14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11: Publish Your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Ship it. Deploy to where your users are.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Publish to Microsoft Teams — available in the Teams app store</a:t>
            </a:r>
          </a:p>
          <a:p>
            <a:pPr/>
            <a:r>
              <a:rPr b="0" sz="2000"/>
              <a:t>Publish to M365 Copilot — integrated into the Copilot experience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Your agent goes from prototype to production.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FRAGO: Finding the Channels Tab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Channels is NOT on the Overview page canvas.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To reach Channels:</a:t>
            </a:r>
          </a:p>
          <a:p>
            <a:pPr lvl="1"/>
            <a:r>
              <a:rPr b="0" sz="1800"/>
              <a:t>1. Open your agent → Overview page</a:t>
            </a:r>
          </a:p>
          <a:p>
            <a:pPr lvl="1"/>
            <a:r>
              <a:rPr b="1" sz="1800"/>
              <a:t>2. Click  +8  in the top tab bar</a:t>
            </a:r>
          </a:p>
          <a:p>
            <a:pPr lvl="1"/>
            <a:r>
              <a:rPr b="0" sz="1700"/>
              <a:t>   (next to the "Overview" tab)</a:t>
            </a:r>
          </a:p>
          <a:p>
            <a:pPr lvl="1"/>
            <a:r>
              <a:rPr b="0" sz="1800"/>
              <a:t>3. Select Channels from the dropdown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700"/>
              <a:t>The lab says "Select Channel in the top navigation" — correct.</a:t>
            </a:r>
          </a:p>
          <a:p>
            <a:pPr/>
            <a:r>
              <a:rPr b="1" sz="1700"/>
              <a:t>The +8 overflow is where it lives in the new UI.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FRAGO: 'This App Cannot Be Found'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0" sz="2000"/>
              <a:t>When publishing to Teams you may see:</a:t>
            </a:r>
          </a:p>
          <a:p>
            <a:pPr/>
            <a:r>
              <a:rPr b="1" sz="2000"/>
              <a:t>"This app cannot be found."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→  Click Close</a:t>
            </a:r>
          </a:p>
          <a:p>
            <a:pPr/>
            <a:r>
              <a:rPr b="1" sz="2000"/>
              <a:t>→  Wait 2–3 minutes (Teams propagation delay)</a:t>
            </a:r>
          </a:p>
          <a:p>
            <a:pPr/>
            <a:r>
              <a:rPr b="1" sz="2000"/>
              <a:t>→  Return to Copilot Studio and publish again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700"/>
              <a:t>Trial environment: Publish requires the Copilot Studio Authors role.</a:t>
            </a:r>
          </a:p>
          <a:p>
            <a:pPr/>
            <a:r>
              <a:rPr b="0" sz="1700"/>
              <a:t>If Publish is greyed out, ask your facilitator.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11: Step by Step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1. Publish the agent</a:t>
            </a:r>
          </a:p>
          <a:p>
            <a:pPr lvl="1"/>
            <a:r>
              <a:rPr b="0" sz="1700"/>
              <a:t>Overview page → Publish button → Confirm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2. Deploy to Microsoft Teams</a:t>
            </a:r>
          </a:p>
          <a:p>
            <a:pPr lvl="1"/>
            <a:r>
              <a:rPr b="0" sz="1700"/>
              <a:t>Overview → +8 → Channels</a:t>
            </a:r>
          </a:p>
          <a:p>
            <a:pPr lvl="1"/>
            <a:r>
              <a:rPr b="0" sz="1700"/>
              <a:t>→ Microsoft Teams → Add to Teams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3. Deploy to M365 Copilot</a:t>
            </a:r>
          </a:p>
          <a:p>
            <a:pPr lvl="1"/>
            <a:r>
              <a:rPr b="0" sz="1700"/>
              <a:t>Channels → M365 and Teams → publish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4. Open Teams web app</a:t>
            </a:r>
          </a:p>
          <a:p>
            <a:pPr lvl="1"/>
            <a:r>
              <a:rPr b="0" sz="1700"/>
              <a:t>Find your agent → test it live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Admin approval:</a:t>
            </a:r>
          </a:p>
          <a:p>
            <a:pPr lvl="1"/>
            <a:r>
              <a:rPr b="0" sz="1600"/>
              <a:t>In production, org admins approve agents</a:t>
            </a:r>
          </a:p>
          <a:p>
            <a:pPr lvl="1"/>
            <a:r>
              <a:rPr b="0" sz="1600"/>
              <a:t>In your sandbox env, you have admin rights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Free Play Challenge!</a:t>
            </a:r>
          </a:p>
          <a:p>
            <a:pPr lvl="1"/>
            <a:r>
              <a:rPr b="0" sz="1600"/>
              <a:t>Once published: adapt your agent for</a:t>
            </a:r>
          </a:p>
          <a:p>
            <a:pPr lvl="1"/>
            <a:r>
              <a:rPr b="0" sz="1600"/>
              <a:t>a real scenario from your organisation.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700"/>
              <a:t>🕐  ~30 minutes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600"/>
              <a:t>Let's Go!  —  Mission 11: Publish Your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1700"/>
              <a:t>CODENAME:</a:t>
            </a:r>
          </a:p>
          <a:p>
            <a:pPr/>
            <a:r>
              <a:rPr b="0" sz="1600"/>
              <a:t>OPERATION PUBLISH PUBLISH PUBLISH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TIME:</a:t>
            </a:r>
          </a:p>
          <a:p>
            <a:pPr/>
            <a:r>
              <a:rPr b="0" sz="1600"/>
              <a:t>~30 min  •  Difficulty: ★☆☆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PRODUCTS:</a:t>
            </a:r>
          </a:p>
          <a:p>
            <a:pPr/>
            <a:r>
              <a:rPr b="0" sz="1500"/>
              <a:t>Microsoft Copilot Studio  •  Microsoft 365  •  Teams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TAGS:</a:t>
            </a:r>
          </a:p>
          <a:p>
            <a:pPr/>
            <a:r>
              <a:rPr b="0" sz="1600"/>
              <a:t>Publishing  •  Channels  •  Deployment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0" sz="1600"/>
              <a:t>Scan the QR code or visit: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400"/>
              <a:t>microsoft.github.io/agent-academy/recruit/mission-11</a:t>
            </a:r>
          </a:p>
        </p:txBody>
      </p:sp>
      <p:pic>
        <p:nvPicPr>
          <p:cNvPr id="5" name="Picture 4" descr="imag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725" y="2835663"/>
            <a:ext cx="2800000" cy="3000000"/>
          </a:xfrm>
          <a:prstGeom prst="rect">
            <a:avLst/>
          </a:prstGeom>
        </p:spPr>
      </p:pic>
      <p:pic>
        <p:nvPicPr>
          <p:cNvPr id="6" name="Picture 5" descr="image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161" y="1900213"/>
            <a:ext cx="14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Mission Debrief #4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Mission Debrief #4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Q1: Event triggers vs. waiting for user input — when do you use each?</a:t>
            </a:r>
          </a:p>
          <a:p>
            <a:pPr/>
            <a:r>
              <a:rPr b="0" sz="2000"/>
              <a:t>Q2: What are the two main publishing channels?</a:t>
            </a:r>
          </a:p>
          <a:p>
            <a:pPr/>
            <a:r>
              <a:rPr b="0" sz="2000"/>
              <a:t>Q3: What is the "trick" to finding the Channels tab in the new UI?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200"/>
              <a:t>Who deployed to Teams?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1900"/>
              <a:t>Show us your live agent</a:t>
            </a:r>
          </a:p>
          <a:p>
            <a:pPr/>
            <a:r>
              <a:rPr b="0" sz="1900"/>
              <a:t>in the Teams web app.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1800"/>
              <a:t>Free Play results — share your twist!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/>
            <a:r>
              <a:rPr b="1" sz="3200"/>
              <a:t>Mission Complete</a:t>
            </a:r>
          </a:p>
          <a:p>
            <a:pPr/>
            <a:r>
              <a:rPr b="1" sz="3200"/>
              <a:t>What's Next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Lesson 12: Understanding Licensing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Copilot Credits  (June 2026)</a:t>
            </a:r>
          </a:p>
          <a:p>
            <a:pPr/>
            <a:r>
              <a:rPr b="0" sz="1700"/>
              <a:t>Replaced "messages" in September 2025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Pay-as-you-go:</a:t>
            </a:r>
          </a:p>
          <a:p>
            <a:pPr lvl="1"/>
            <a:r>
              <a:rPr b="0" sz="1700"/>
              <a:t>$0.01 per credit</a:t>
            </a:r>
          </a:p>
          <a:p>
            <a:pPr/>
            <a:r>
              <a:rPr b="0" sz="600"/>
              <a:t/>
            </a:r>
          </a:p>
          <a:p>
            <a:pPr/>
            <a:r>
              <a:rPr b="1" sz="1800"/>
              <a:t>Capacity pack:</a:t>
            </a:r>
          </a:p>
          <a:p>
            <a:pPr lvl="1"/>
            <a:r>
              <a:rPr b="0" sz="1700"/>
              <a:t>$200/month for 25,000 credits</a:t>
            </a:r>
          </a:p>
          <a:p>
            <a:pPr/>
            <a:r>
              <a:rPr b="0" sz="600"/>
              <a:t/>
            </a:r>
          </a:p>
          <a:p>
            <a:pPr/>
            <a:r>
              <a:rPr b="1" sz="1800"/>
              <a:t>M365 Copilot licensed users:</a:t>
            </a:r>
          </a:p>
          <a:p>
            <a:pPr lvl="1"/>
            <a:r>
              <a:rPr b="0" sz="1600"/>
              <a:t>No credits consumed on internal channels (fair use)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200"/>
              <a:t>AI Models (June 2026):</a:t>
            </a:r>
          </a:p>
          <a:p>
            <a:pPr/>
            <a:r>
              <a:rPr b="0" sz="1700"/>
              <a:t>Default: GPT-4.1</a:t>
            </a:r>
          </a:p>
          <a:p>
            <a:pPr lvl="1"/>
            <a:r>
              <a:rPr b="0" sz="1500"/>
              <a:t>(GPT-4o retired Oct 2025)</a:t>
            </a:r>
          </a:p>
          <a:p>
            <a:pPr/>
            <a:r>
              <a:rPr b="0" sz="1600"/>
              <a:t>New options: GPT-5, Claude Sonnet 4.5/4.6, Mistral 3.5</a:t>
            </a:r>
          </a:p>
          <a:p>
            <a:pPr lvl="1"/>
            <a:r>
              <a:rPr b="0" sz="1500"/>
              <a:t>Premium AI tools = higher credit rate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800"/>
              <a:t>Trial (30 days, extendable):</a:t>
            </a:r>
          </a:p>
          <a:p>
            <a:pPr lvl="1"/>
            <a:r>
              <a:rPr b="0" sz="1600"/>
              <a:t>Full capabilities except publishing</a:t>
            </a:r>
          </a:p>
          <a:p>
            <a:pPr lvl="1"/>
            <a:r>
              <a:rPr b="0" sz="1600"/>
              <a:t>Publishing needs Copilot Studio Authors role</a:t>
            </a:r>
          </a:p>
          <a:p>
            <a:pPr/>
            <a:r>
              <a:rPr b="0" sz="800"/>
              <a:t/>
            </a:r>
          </a:p>
          <a:p>
            <a:pPr/>
            <a:r>
              <a:rPr b="1" sz="1600"/>
              <a:t>June 2026: Teams classic chatbot app retired.</a:t>
            </a:r>
          </a:p>
          <a:p>
            <a:pPr lvl="1"/>
            <a:r>
              <a:rPr b="0" sz="1500"/>
              <a:t>Create and manage agents via Copilot Studio web.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600"/>
              <a:t>Let's Go!  —  Mission 12: Understanding Licensing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1700"/>
              <a:t>CODENAME:</a:t>
            </a:r>
          </a:p>
          <a:p>
            <a:pPr/>
            <a:r>
              <a:rPr b="0" sz="1600"/>
              <a:t>OPERATION KNOW WHAT YOU OWE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TIME:</a:t>
            </a:r>
          </a:p>
          <a:p>
            <a:pPr/>
            <a:r>
              <a:rPr b="0" sz="1600"/>
              <a:t>~15 min  •  Difficulty: ★☆☆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PRODUCTS:</a:t>
            </a:r>
          </a:p>
          <a:p>
            <a:pPr/>
            <a:r>
              <a:rPr b="0" sz="1500"/>
              <a:t>Microsoft Copilot Studio  •  Microsoft 365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TAGS:</a:t>
            </a:r>
          </a:p>
          <a:p>
            <a:pPr/>
            <a:r>
              <a:rPr b="0" sz="1600"/>
              <a:t>Licensing  •  Copilot Credits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0" sz="1600"/>
              <a:t>Scan the QR code or visit: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400"/>
              <a:t>microsoft.github.io/agent-academy/recruit/mission-12</a:t>
            </a:r>
          </a:p>
        </p:txBody>
      </p:sp>
      <p:pic>
        <p:nvPicPr>
          <p:cNvPr id="5" name="Picture 4" descr="imag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725" y="2835663"/>
            <a:ext cx="2800000" cy="3000000"/>
          </a:xfrm>
          <a:prstGeom prst="rect">
            <a:avLst/>
          </a:prstGeom>
        </p:spPr>
      </p:pic>
      <p:pic>
        <p:nvPicPr>
          <p:cNvPr id="6" name="Picture 5" descr="image1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161" y="1900213"/>
            <a:ext cx="14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Claim Your Recruit Badge!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200"/>
              <a:t>You made it through all missions!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Scan the QR code or visit:</a:t>
            </a:r>
          </a:p>
          <a:p>
            <a:pPr/>
            <a:r>
              <a:rPr b="1" sz="2000"/>
              <a:t>aka.ms/agentacademy-live/graduate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What's next?</a:t>
            </a:r>
          </a:p>
          <a:p>
            <a:pPr lvl="1"/>
            <a:r>
              <a:rPr b="0" sz="1700"/>
              <a:t>Operative: deeper patterns and advanced scenarios</a:t>
            </a:r>
          </a:p>
          <a:p>
            <a:pPr lvl="1"/>
            <a:r>
              <a:rPr b="0" sz="1700"/>
              <a:t>Commander: enterprise-scale architecture (coming soon)</a:t>
            </a:r>
          </a:p>
          <a:p>
            <a:pPr lvl="1"/>
            <a:r>
              <a:rPr b="0" sz="1700"/>
              <a:t>Special Ops: YAML, MCP, CLI, and beyond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image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913" y="757238"/>
            <a:ext cx="5372100" cy="520065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600"/>
              <a:t>Let's Go!  —  Mission 13: Secure Your Recruit Badge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1700"/>
              <a:t>CODENAME:</a:t>
            </a:r>
          </a:p>
          <a:p>
            <a:pPr/>
            <a:r>
              <a:rPr b="0" sz="1600"/>
              <a:t>OPERATION COURSE COMPLETION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TIME:</a:t>
            </a:r>
          </a:p>
          <a:p>
            <a:pPr/>
            <a:r>
              <a:rPr b="0" sz="1600"/>
              <a:t>~5 min  •  Difficulty: ★☆☆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PRODUCTS:</a:t>
            </a:r>
          </a:p>
          <a:p>
            <a:pPr/>
            <a:r>
              <a:rPr b="0" sz="1500"/>
              <a:t>Microsoft Copilot Studio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700"/>
              <a:t>TAGS:</a:t>
            </a:r>
          </a:p>
          <a:p>
            <a:pPr/>
            <a:r>
              <a:rPr b="0" sz="1600"/>
              <a:t>Course Completion  •  Badge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0" sz="1600"/>
              <a:t>Scan the QR code or visit:</a:t>
            </a:r>
          </a:p>
          <a:p>
            <a:pPr/>
            <a:r>
              <a:rPr b="0" sz="1200"/>
              <a:t/>
            </a:r>
          </a:p>
          <a:p>
            <a:pPr/>
            <a:r>
              <a:rPr b="1" sz="1400"/>
              <a:t>aka.ms/agentacademy-live/graduate</a:t>
            </a:r>
          </a:p>
        </p:txBody>
      </p:sp>
      <p:pic>
        <p:nvPicPr>
          <p:cNvPr id="5" name="Picture 4" descr="image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725" y="2835663"/>
            <a:ext cx="2800000" cy="3000000"/>
          </a:xfrm>
          <a:prstGeom prst="rect">
            <a:avLst/>
          </a:prstGeom>
        </p:spPr>
      </p:pic>
      <p:pic>
        <p:nvPicPr>
          <p:cNvPr id="6" name="Picture 5" descr="image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161" y="1900213"/>
            <a:ext cx="14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Plan Your First Real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200"/>
              <a:t>5 minutes. Think about next week.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What will you build first when you're back at your desk?</a:t>
            </a:r>
          </a:p>
          <a:p>
            <a:pPr/>
            <a:r>
              <a:rPr b="0" sz="2000"/>
              <a:t>Who is it for?</a:t>
            </a:r>
          </a:p>
          <a:p>
            <a:pPr/>
            <a:r>
              <a:rPr b="0" sz="2000"/>
              <a:t>Which pieces from today will you use?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Write it down. Share with the room if you're brave.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Keep Building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Agent Academy</a:t>
            </a:r>
          </a:p>
          <a:p>
            <a:pPr lvl="1"/>
            <a:r>
              <a:rPr b="0" sz="1700"/>
              <a:t>microsoft.github.io/agent-academy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Copilot Studio Docs</a:t>
            </a:r>
          </a:p>
          <a:p>
            <a:pPr lvl="1"/>
            <a:r>
              <a:rPr b="0" sz="1700"/>
              <a:t>learn.microsoft.com/copilot-studio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What's New</a:t>
            </a:r>
          </a:p>
          <a:p>
            <a:pPr lvl="1"/>
            <a:r>
              <a:rPr b="0" sz="1700"/>
              <a:t>.../whats-new (check monthly!)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Trial Signup</a:t>
            </a:r>
          </a:p>
          <a:p>
            <a:pPr lvl="1"/>
            <a:r>
              <a:rPr b="0" sz="1700"/>
              <a:t>aka.ms/TryCopilotStudio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Usage Estimator</a:t>
            </a:r>
          </a:p>
          <a:p>
            <a:pPr lvl="1"/>
            <a:r>
              <a:rPr b="0" sz="1700"/>
              <a:t>aka.ms/copilotstudioestimator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M365 Developer Tenant (free)</a:t>
            </a:r>
          </a:p>
          <a:p>
            <a:pPr lvl="1"/>
            <a:r>
              <a:rPr b="0" sz="1700"/>
              <a:t>developer.microsoft.com/microsoft-365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BOOST Podcast</a:t>
            </a:r>
          </a:p>
          <a:p>
            <a:pPr lvl="1"/>
            <a:r>
              <a:rPr b="0" sz="1700"/>
              <a:t>Weekly Power Platform community insights</a:t>
            </a:r>
          </a:p>
          <a:p>
            <a:pPr lvl="1"/>
            <a:r>
              <a:rPr b="0" sz="1700"/>
              <a:t>with Nick and Ulrikke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Power Platform Community</a:t>
            </a:r>
          </a:p>
          <a:p>
            <a:pPr lvl="1"/>
            <a:r>
              <a:rPr b="0" sz="1700"/>
              <a:t>community.powerplatform.com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/>
            <a:r>
              <a:rPr b="1" sz="2400"/>
              <a:t>Don't be an expert.</a:t>
            </a:r>
          </a:p>
          <a:p>
            <a:pPr/>
            <a:r>
              <a:rPr b="1" sz="2400"/>
              <a:t/>
            </a:r>
          </a:p>
          <a:p>
            <a:pPr/>
            <a:r>
              <a:rPr b="1" sz="2400"/>
              <a:t>Play, experiment, explore.</a:t>
            </a:r>
          </a:p>
          <a:p>
            <a:pPr/>
            <a:r>
              <a:rPr b="1" sz="2400"/>
              <a:t/>
            </a:r>
          </a:p>
          <a:p>
            <a:pPr/>
            <a:r>
              <a:rPr b="1" sz="2400"/>
              <a:t>— Nick &amp; Ulrikke, Power Platform BOOST Podcast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What's Next in Agent Academy?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000"/>
              <a:t>Recruit  ✅  You are here</a:t>
            </a:r>
          </a:p>
          <a:p>
            <a:pPr lvl="1"/>
            <a:r>
              <a:rPr b="0" sz="1700"/>
              <a:t>13 lessons, zero to deployed agent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Operative  →  Next level</a:t>
            </a:r>
          </a:p>
          <a:p>
            <a:pPr lvl="1"/>
            <a:r>
              <a:rPr b="0" sz="1700"/>
              <a:t>Deeper agent patterns</a:t>
            </a:r>
          </a:p>
          <a:p>
            <a:pPr lvl="1"/>
            <a:r>
              <a:rPr b="0" sz="1700"/>
              <a:t>Advanced knowledge &amp; multi-agent</a:t>
            </a:r>
          </a:p>
          <a:p>
            <a:pPr lvl="1"/>
            <a:r>
              <a:rPr b="0" sz="1500"/>
              <a:t>microsoft.github.io/agent-academy/operative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Commander  (coming soon)</a:t>
            </a:r>
          </a:p>
          <a:p>
            <a:pPr lvl="1"/>
            <a:r>
              <a:rPr b="0" sz="1700"/>
              <a:t>Enterprise architecture, governance, ALM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pPr/>
            <a:r>
              <a:rPr b="1" sz="2000"/>
              <a:t>Special Ops  —  Bonus missions</a:t>
            </a:r>
          </a:p>
          <a:p>
            <a:pPr lvl="1"/>
            <a:r>
              <a:rPr b="0" sz="1700"/>
              <a:t>YAML Specialist</a:t>
            </a:r>
          </a:p>
          <a:p>
            <a:pPr lvl="1"/>
            <a:r>
              <a:rPr b="0" sz="1700"/>
              <a:t>Microsoft Learn MCP Server</a:t>
            </a:r>
          </a:p>
          <a:p>
            <a:pPr lvl="1"/>
            <a:r>
              <a:rPr b="0" sz="1700"/>
              <a:t>Copilot Studio + MCP</a:t>
            </a:r>
          </a:p>
          <a:p>
            <a:pPr lvl="1"/>
            <a:r>
              <a:rPr b="0" sz="1700"/>
              <a:t>Power Platform CLI MCP Server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Agent Academy on YouTube</a:t>
            </a:r>
          </a:p>
          <a:p>
            <a:pPr lvl="1"/>
            <a:r>
              <a:rPr b="0" sz="1700"/>
              <a:t>Copilot Studio Agent Academy playlist</a:t>
            </a:r>
          </a:p>
          <a:p>
            <a:pPr lvl="1"/>
            <a:r>
              <a:rPr b="0" sz="1500"/>
              <a:t>youtube.com/@mspowerplatform</a:t>
            </a:r>
          </a:p>
          <a:p>
            <a:pPr/>
            <a:r>
              <a:rPr b="0" sz="800"/>
              <a:t/>
            </a:r>
          </a:p>
          <a:p>
            <a:pPr/>
            <a:r>
              <a:rPr b="1" sz="2000"/>
              <a:t>BOOST Podcast</a:t>
            </a:r>
          </a:p>
          <a:p>
            <a:pPr lvl="1"/>
            <a:r>
              <a:rPr b="0" sz="1600"/>
              <a:t>Travelling Circus — wherever we go, we build!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Q&amp;A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800"/>
              <a:t>Questions?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000"/>
              <a:t>Nick Doelman</a:t>
            </a:r>
          </a:p>
          <a:p>
            <a:pPr lvl="1"/>
            <a:r>
              <a:rPr b="0" sz="1800"/>
              <a:t>nick@readyxrm.com  •  @readyxrm</a:t>
            </a:r>
          </a:p>
          <a:p>
            <a:pPr/>
            <a:r>
              <a:rPr b="0" sz="800"/>
              <a:t/>
            </a:r>
          </a:p>
          <a:p>
            <a:pPr/>
            <a:r>
              <a:rPr b="0" sz="2000"/>
              <a:t>Ulrikke Akerbæk</a:t>
            </a:r>
          </a:p>
          <a:p>
            <a:pPr lvl="1"/>
            <a:r>
              <a:rPr b="0" sz="1800"/>
              <a:t>me@ulrikke.rocks  •  @ulrikkeakerbk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1800"/>
              <a:t>#EPPC26  •  #AgentAcademy  •  #PowerPlatform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1" sz="280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pPr/>
            <a:r>
              <a:rPr b="1" sz="2600"/>
              <a:t>Thank you for building with us today.</a:t>
            </a:r>
          </a:p>
          <a:p>
            <a:pPr/>
            <a:r>
              <a:rPr b="0" sz="1000"/>
              <a:t/>
            </a:r>
          </a:p>
          <a:p>
            <a:pPr/>
            <a:r>
              <a:rPr b="0" sz="2200"/>
              <a:t>Please rate this session in the EPPC app.</a:t>
            </a:r>
          </a:p>
          <a:p>
            <a:pPr/>
            <a:r>
              <a:rPr b="0" sz="2200"/>
              <a:t>Your feedback makes the next workshop better.</a:t>
            </a:r>
          </a:p>
          <a:p>
            <a:pPr/>
            <a:r>
              <a:rPr b="0" sz="1000"/>
              <a:t/>
            </a:r>
          </a:p>
          <a:p>
            <a:pPr/>
            <a:r>
              <a:rPr b="1" sz="2000"/>
              <a:t>#EPPC26  •  #AgentAcademy  •  #PowerPlatform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plash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i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sz="2400" dirty="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1F54D7AD26C459333D1AFF09839BE" ma:contentTypeVersion="14" ma:contentTypeDescription="Create a new document." ma:contentTypeScope="" ma:versionID="267f41264e04a5c3ada0074a8fd340dc">
  <xsd:schema xmlns:xsd="http://www.w3.org/2001/XMLSchema" xmlns:xs="http://www.w3.org/2001/XMLSchema" xmlns:p="http://schemas.microsoft.com/office/2006/metadata/properties" xmlns:ns2="221fbb9a-23db-4311-a69c-34622b264696" xmlns:ns3="1b3b1065-ae42-4d8a-aa8c-0a73a17faba8" targetNamespace="http://schemas.microsoft.com/office/2006/metadata/properties" ma:root="true" ma:fieldsID="b5806782e6246c3a79c8d8c00ea8f5e6" ns2:_="" ns3:_="">
    <xsd:import namespace="221fbb9a-23db-4311-a69c-34622b264696"/>
    <xsd:import namespace="1b3b1065-ae42-4d8a-aa8c-0a73a17fa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bb9a-23db-4311-a69c-34622b264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530a17-84a2-4d03-b447-f9955f42fe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3b1065-ae42-4d8a-aa8c-0a73a17fab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72881c0-9f09-48c0-b71c-fddfa2680fd3}" ma:internalName="TaxCatchAll" ma:showField="CatchAllData" ma:web="1b3b1065-ae42-4d8a-aa8c-0a73a17fab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3b1065-ae42-4d8a-aa8c-0a73a17faba8" xsi:nil="true"/>
    <lcf76f155ced4ddcb4097134ff3c332f xmlns="221fbb9a-23db-4311-a69c-34622b26469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6782FBD-C4AD-49F1-B11B-703DF9FAD8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17F9A3-629C-4784-B224-2061BB4B58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bb9a-23db-4311-a69c-34622b264696"/>
    <ds:schemaRef ds:uri="1b3b1065-ae42-4d8a-aa8c-0a73a17fa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5C0892-D583-430B-AD43-D1A4EB1EE043}">
  <ds:schemaRefs>
    <ds:schemaRef ds:uri="http://schemas.microsoft.com/office/2006/metadata/properties"/>
    <ds:schemaRef ds:uri="http://www.w3.org/XML/1998/namespace"/>
    <ds:schemaRef ds:uri="http://purl.org/dc/elements/1.1/"/>
    <ds:schemaRef ds:uri="221fbb9a-23db-4311-a69c-34622b264696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1b3b1065-ae42-4d8a-aa8c-0a73a17faba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3600</TotalTime>
  <Words>528</Words>
  <Application>Microsoft Macintosh PowerPoint</Application>
  <PresentationFormat>Widescreen</PresentationFormat>
  <Paragraphs>81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Splash Screen</vt:lpstr>
      <vt:lpstr>Title Slide</vt:lpstr>
      <vt:lpstr>Main Content</vt:lpstr>
      <vt:lpstr>End Screen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SharePoint Europe Systems</dc:creator>
  <cp:lastModifiedBy>Ray Glasheen</cp:lastModifiedBy>
  <cp:revision>54</cp:revision>
  <dcterms:created xsi:type="dcterms:W3CDTF">2016-06-21T09:22:52Z</dcterms:created>
  <dcterms:modified xsi:type="dcterms:W3CDTF">2026-04-30T15:32:19Z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0x010100A051F54D7AD26C459333D1AFF09839BE</vt:lpwstr>
  </property>
  <property fmtid="{D5CDD505-2E9C-101B-9397-08002B2CF9AE}" pid="3" name="MediaServiceImageTags">
    <vt:lpwstr/>
  </property>
</Properties>
</file>