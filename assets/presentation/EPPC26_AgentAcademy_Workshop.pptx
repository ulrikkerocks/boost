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4"/>
    <p:sldMasterId id="2147483680" r:id="rId5"/>
    <p:sldMasterId id="2147483682" r:id="rId6"/>
    <p:sldMasterId id="2147483684" r:id="rId7"/>
  </p:sldMasterIdLst>
  <p:notesMasterIdLst>
    <p:notesMasterId r:id="rId21"/>
  </p:notesMasterIdLst>
  <p:sldIdLst>
    <p:sldId id="256" r:id="rId29"/>
    <p:sldId id="257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274" r:id="rId47"/>
    <p:sldId id="275" r:id="rId48"/>
    <p:sldId id="276" r:id="rId49"/>
    <p:sldId id="277" r:id="rId50"/>
    <p:sldId id="278" r:id="rId51"/>
    <p:sldId id="279" r:id="rId52"/>
    <p:sldId id="280" r:id="rId53"/>
    <p:sldId id="281" r:id="rId54"/>
    <p:sldId id="282" r:id="rId55"/>
    <p:sldId id="283" r:id="rId56"/>
    <p:sldId id="284" r:id="rId57"/>
    <p:sldId id="285" r:id="rId58"/>
    <p:sldId id="286" r:id="rId59"/>
    <p:sldId id="287" r:id="rId60"/>
    <p:sldId id="288" r:id="rId61"/>
    <p:sldId id="289" r:id="rId62"/>
    <p:sldId id="290" r:id="rId63"/>
    <p:sldId id="291" r:id="rId64"/>
    <p:sldId id="292" r:id="rId65"/>
    <p:sldId id="293" r:id="rId66"/>
    <p:sldId id="294" r:id="rId67"/>
    <p:sldId id="295" r:id="rId68"/>
    <p:sldId id="296" r:id="rId69"/>
    <p:sldId id="297" r:id="rId70"/>
    <p:sldId id="298" r:id="rId71"/>
    <p:sldId id="299" r:id="rId72"/>
    <p:sldId id="300" r:id="rId73"/>
    <p:sldId id="301" r:id="rId74"/>
    <p:sldId id="302" r:id="rId75"/>
    <p:sldId id="303" r:id="rId76"/>
    <p:sldId id="304" r:id="rId77"/>
    <p:sldId id="305" r:id="rId78"/>
    <p:sldId id="306" r:id="rId79"/>
    <p:sldId id="307" r:id="rId80"/>
    <p:sldId id="308" r:id="rId81"/>
    <p:sldId id="309" r:id="rId82"/>
    <p:sldId id="310" r:id="rId83"/>
    <p:sldId id="311" r:id="rId84"/>
    <p:sldId id="312" r:id="rId85"/>
    <p:sldId id="313" r:id="rId86"/>
    <p:sldId id="314" r:id="rId87"/>
    <p:sldId id="315" r:id="rId88"/>
    <p:sldId id="316" r:id="rId89"/>
    <p:sldId id="317" r:id="rId90"/>
    <p:sldId id="318" r:id="rId91"/>
    <p:sldId id="319" r:id="rId92"/>
    <p:sldId id="320" r:id="rId93"/>
    <p:sldId id="321" r:id="rId94"/>
    <p:sldId id="322" r:id="rId95"/>
    <p:sldId id="323" r:id="rId96"/>
    <p:sldId id="324" r:id="rId97"/>
    <p:sldId id="325" r:id="rId98"/>
    <p:sldId id="326" r:id="rId99"/>
    <p:sldId id="327" r:id="rId100"/>
    <p:sldId id="328" r:id="rId101"/>
    <p:sldId id="329" r:id="rId102"/>
    <p:sldId id="330" r:id="rId10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y Glasheen" initials="RG" lastIdx="1" clrIdx="0">
    <p:extLst>
      <p:ext uri="{19B8F6BF-5375-455C-9EA6-DF929625EA0E}">
        <p15:presenceInfo xmlns:p15="http://schemas.microsoft.com/office/powerpoint/2012/main" userId="S::rglasheen@brightwork.com::785f7a1a-8d11-4bab-9525-84d3cd0677d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D00"/>
    <a:srgbClr val="3679FC"/>
    <a:srgbClr val="76BC21"/>
    <a:srgbClr val="FFCD00"/>
    <a:srgbClr val="00E2FF"/>
    <a:srgbClr val="00F69B"/>
    <a:srgbClr val="8533A1"/>
    <a:srgbClr val="B2AFC4"/>
    <a:srgbClr val="1ECAD3"/>
    <a:srgbClr val="2B6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48530-BA8A-054B-819B-DD187C002EE3}" v="1" dt="2026-04-30T15:32:19.186"/>
    <p1510:client id="{FE61737C-C49F-6D46-AAC7-1EA9B0C40812}" v="30" dt="2026-04-30T15:16:22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2" autoAdjust="0"/>
    <p:restoredTop sz="96301" autoAdjust="0"/>
  </p:normalViewPr>
  <p:slideViewPr>
    <p:cSldViewPr snapToGrid="0">
      <p:cViewPr varScale="1">
        <p:scale>
          <a:sx n="122" d="100"/>
          <a:sy n="122" d="100"/>
        </p:scale>
        <p:origin x="752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openxmlformats.org/officeDocument/2006/relationships/slide" Target="slides/slide1.xml"/><Relationship Id="rId30" Type="http://schemas.openxmlformats.org/officeDocument/2006/relationships/slide" Target="slides/slide2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7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10.xml"/><Relationship Id="rId39" Type="http://schemas.openxmlformats.org/officeDocument/2006/relationships/slide" Target="slides/slide11.xml"/><Relationship Id="rId40" Type="http://schemas.openxmlformats.org/officeDocument/2006/relationships/slide" Target="slides/slide12.xml"/><Relationship Id="rId41" Type="http://schemas.openxmlformats.org/officeDocument/2006/relationships/slide" Target="slides/slide13.xml"/><Relationship Id="rId42" Type="http://schemas.openxmlformats.org/officeDocument/2006/relationships/slide" Target="slides/slide14.xml"/><Relationship Id="rId43" Type="http://schemas.openxmlformats.org/officeDocument/2006/relationships/slide" Target="slides/slide15.xml"/><Relationship Id="rId44" Type="http://schemas.openxmlformats.org/officeDocument/2006/relationships/slide" Target="slides/slide16.xml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Relationship Id="rId50" Type="http://schemas.openxmlformats.org/officeDocument/2006/relationships/slide" Target="slides/slide22.xml"/><Relationship Id="rId51" Type="http://schemas.openxmlformats.org/officeDocument/2006/relationships/slide" Target="slides/slide23.xml"/><Relationship Id="rId52" Type="http://schemas.openxmlformats.org/officeDocument/2006/relationships/slide" Target="slides/slide24.xml"/><Relationship Id="rId53" Type="http://schemas.openxmlformats.org/officeDocument/2006/relationships/slide" Target="slides/slide25.xml"/><Relationship Id="rId54" Type="http://schemas.openxmlformats.org/officeDocument/2006/relationships/slide" Target="slides/slide26.xml"/><Relationship Id="rId55" Type="http://schemas.openxmlformats.org/officeDocument/2006/relationships/slide" Target="slides/slide27.xml"/><Relationship Id="rId56" Type="http://schemas.openxmlformats.org/officeDocument/2006/relationships/slide" Target="slides/slide28.xml"/><Relationship Id="rId57" Type="http://schemas.openxmlformats.org/officeDocument/2006/relationships/slide" Target="slides/slide29.xml"/><Relationship Id="rId58" Type="http://schemas.openxmlformats.org/officeDocument/2006/relationships/slide" Target="slides/slide30.xml"/><Relationship Id="rId59" Type="http://schemas.openxmlformats.org/officeDocument/2006/relationships/slide" Target="slides/slide31.xml"/><Relationship Id="rId60" Type="http://schemas.openxmlformats.org/officeDocument/2006/relationships/slide" Target="slides/slide32.xml"/><Relationship Id="rId61" Type="http://schemas.openxmlformats.org/officeDocument/2006/relationships/slide" Target="slides/slide33.xml"/><Relationship Id="rId62" Type="http://schemas.openxmlformats.org/officeDocument/2006/relationships/slide" Target="slides/slide34.xml"/><Relationship Id="rId63" Type="http://schemas.openxmlformats.org/officeDocument/2006/relationships/slide" Target="slides/slide35.xml"/><Relationship Id="rId64" Type="http://schemas.openxmlformats.org/officeDocument/2006/relationships/slide" Target="slides/slide36.xml"/><Relationship Id="rId65" Type="http://schemas.openxmlformats.org/officeDocument/2006/relationships/slide" Target="slides/slide37.xml"/><Relationship Id="rId66" Type="http://schemas.openxmlformats.org/officeDocument/2006/relationships/slide" Target="slides/slide38.xml"/><Relationship Id="rId67" Type="http://schemas.openxmlformats.org/officeDocument/2006/relationships/slide" Target="slides/slide39.xml"/><Relationship Id="rId68" Type="http://schemas.openxmlformats.org/officeDocument/2006/relationships/slide" Target="slides/slide40.xml"/><Relationship Id="rId69" Type="http://schemas.openxmlformats.org/officeDocument/2006/relationships/slide" Target="slides/slide41.xml"/><Relationship Id="rId70" Type="http://schemas.openxmlformats.org/officeDocument/2006/relationships/slide" Target="slides/slide42.xml"/><Relationship Id="rId71" Type="http://schemas.openxmlformats.org/officeDocument/2006/relationships/slide" Target="slides/slide43.xml"/><Relationship Id="rId72" Type="http://schemas.openxmlformats.org/officeDocument/2006/relationships/slide" Target="slides/slide44.xml"/><Relationship Id="rId73" Type="http://schemas.openxmlformats.org/officeDocument/2006/relationships/slide" Target="slides/slide45.xml"/><Relationship Id="rId74" Type="http://schemas.openxmlformats.org/officeDocument/2006/relationships/slide" Target="slides/slide46.xml"/><Relationship Id="rId75" Type="http://schemas.openxmlformats.org/officeDocument/2006/relationships/slide" Target="slides/slide47.xml"/><Relationship Id="rId76" Type="http://schemas.openxmlformats.org/officeDocument/2006/relationships/slide" Target="slides/slide48.xml"/><Relationship Id="rId77" Type="http://schemas.openxmlformats.org/officeDocument/2006/relationships/slide" Target="slides/slide49.xml"/><Relationship Id="rId78" Type="http://schemas.openxmlformats.org/officeDocument/2006/relationships/slide" Target="slides/slide50.xml"/><Relationship Id="rId79" Type="http://schemas.openxmlformats.org/officeDocument/2006/relationships/slide" Target="slides/slide51.xml"/><Relationship Id="rId80" Type="http://schemas.openxmlformats.org/officeDocument/2006/relationships/slide" Target="slides/slide52.xml"/><Relationship Id="rId81" Type="http://schemas.openxmlformats.org/officeDocument/2006/relationships/slide" Target="slides/slide53.xml"/><Relationship Id="rId82" Type="http://schemas.openxmlformats.org/officeDocument/2006/relationships/slide" Target="slides/slide54.xml"/><Relationship Id="rId83" Type="http://schemas.openxmlformats.org/officeDocument/2006/relationships/slide" Target="slides/slide55.xml"/><Relationship Id="rId84" Type="http://schemas.openxmlformats.org/officeDocument/2006/relationships/slide" Target="slides/slide56.xml"/><Relationship Id="rId85" Type="http://schemas.openxmlformats.org/officeDocument/2006/relationships/slide" Target="slides/slide57.xml"/><Relationship Id="rId86" Type="http://schemas.openxmlformats.org/officeDocument/2006/relationships/slide" Target="slides/slide58.xml"/><Relationship Id="rId87" Type="http://schemas.openxmlformats.org/officeDocument/2006/relationships/slide" Target="slides/slide59.xml"/><Relationship Id="rId88" Type="http://schemas.openxmlformats.org/officeDocument/2006/relationships/slide" Target="slides/slide60.xml"/><Relationship Id="rId89" Type="http://schemas.openxmlformats.org/officeDocument/2006/relationships/slide" Target="slides/slide61.xml"/><Relationship Id="rId90" Type="http://schemas.openxmlformats.org/officeDocument/2006/relationships/slide" Target="slides/slide62.xml"/><Relationship Id="rId91" Type="http://schemas.openxmlformats.org/officeDocument/2006/relationships/slide" Target="slides/slide63.xml"/><Relationship Id="rId92" Type="http://schemas.openxmlformats.org/officeDocument/2006/relationships/slide" Target="slides/slide64.xml"/><Relationship Id="rId93" Type="http://schemas.openxmlformats.org/officeDocument/2006/relationships/slide" Target="slides/slide65.xml"/><Relationship Id="rId94" Type="http://schemas.openxmlformats.org/officeDocument/2006/relationships/slide" Target="slides/slide66.xml"/><Relationship Id="rId95" Type="http://schemas.openxmlformats.org/officeDocument/2006/relationships/slide" Target="slides/slide67.xml"/><Relationship Id="rId96" Type="http://schemas.openxmlformats.org/officeDocument/2006/relationships/slide" Target="slides/slide68.xml"/><Relationship Id="rId97" Type="http://schemas.openxmlformats.org/officeDocument/2006/relationships/slide" Target="slides/slide69.xml"/><Relationship Id="rId98" Type="http://schemas.openxmlformats.org/officeDocument/2006/relationships/slide" Target="slides/slide70.xml"/><Relationship Id="rId99" Type="http://schemas.openxmlformats.org/officeDocument/2006/relationships/slide" Target="slides/slide71.xml"/><Relationship Id="rId100" Type="http://schemas.openxmlformats.org/officeDocument/2006/relationships/slide" Target="slides/slide72.xml"/><Relationship Id="rId101" Type="http://schemas.openxmlformats.org/officeDocument/2006/relationships/slide" Target="slides/slide73.xml"/><Relationship Id="rId102" Type="http://schemas.openxmlformats.org/officeDocument/2006/relationships/slide" Target="slides/slide74.xml"/><Relationship Id="rId103" Type="http://schemas.openxmlformats.org/officeDocument/2006/relationships/slide" Target="slides/slide7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 Glasheen" userId="c67fd889-8470-4165-8569-8911e7ff9a0a" providerId="ADAL" clId="{506579FA-F8C7-5B5D-A2A1-C8B20A0AC245}"/>
    <pc:docChg chg="modSld modMainMaster modNotesMaster">
      <pc:chgData name="Ray Glasheen" userId="c67fd889-8470-4165-8569-8911e7ff9a0a" providerId="ADAL" clId="{506579FA-F8C7-5B5D-A2A1-C8B20A0AC245}" dt="2026-04-30T15:32:19.186" v="47" actId="18331"/>
      <pc:docMkLst>
        <pc:docMk/>
      </pc:docMkLst>
      <pc:sldChg chg="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3080557386" sldId="256"/>
        </pc:sldMkLst>
      </pc:sldChg>
      <pc:sldChg chg="modSp mod setBg">
        <pc:chgData name="Ray Glasheen" userId="c67fd889-8470-4165-8569-8911e7ff9a0a" providerId="ADAL" clId="{506579FA-F8C7-5B5D-A2A1-C8B20A0AC245}" dt="2026-04-30T15:32:19.186" v="47" actId="18331"/>
        <pc:sldMkLst>
          <pc:docMk/>
          <pc:sldMk cId="350046711" sldId="258"/>
        </pc:sldMkLst>
        <pc:spChg chg="mod">
          <ac:chgData name="Ray Glasheen" userId="c67fd889-8470-4165-8569-8911e7ff9a0a" providerId="ADAL" clId="{506579FA-F8C7-5B5D-A2A1-C8B20A0AC245}" dt="2026-04-30T10:56:47.331" v="38"/>
          <ac:spMkLst>
            <pc:docMk/>
            <pc:sldMk cId="350046711" sldId="258"/>
            <ac:spMk id="3" creationId="{43EEEF1E-D858-9C47-9A95-2D236BFD2F31}"/>
          </ac:spMkLst>
        </pc:spChg>
        <pc:spChg chg="mod">
          <ac:chgData name="Ray Glasheen" userId="c67fd889-8470-4165-8569-8911e7ff9a0a" providerId="ADAL" clId="{506579FA-F8C7-5B5D-A2A1-C8B20A0AC245}" dt="2026-04-30T10:56:47.331" v="38"/>
          <ac:spMkLst>
            <pc:docMk/>
            <pc:sldMk cId="350046711" sldId="258"/>
            <ac:spMk id="4" creationId="{12D3891A-AA58-D14F-909B-BF581581CD69}"/>
          </ac:spMkLst>
        </pc:spChg>
        <pc:spChg chg="mod">
          <ac:chgData name="Ray Glasheen" userId="c67fd889-8470-4165-8569-8911e7ff9a0a" providerId="ADAL" clId="{506579FA-F8C7-5B5D-A2A1-C8B20A0AC245}" dt="2026-04-30T10:56:47.331" v="38"/>
          <ac:spMkLst>
            <pc:docMk/>
            <pc:sldMk cId="350046711" sldId="258"/>
            <ac:spMk id="7" creationId="{107F331A-088A-5E4B-ADDD-52C41D93C27C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1474078492" sldId="261"/>
        </pc:sldMkLst>
        <pc:spChg chg="mod">
          <ac:chgData name="Ray Glasheen" userId="c67fd889-8470-4165-8569-8911e7ff9a0a" providerId="ADAL" clId="{506579FA-F8C7-5B5D-A2A1-C8B20A0AC245}" dt="2026-04-30T10:37:05.918" v="8" actId="207"/>
          <ac:spMkLst>
            <pc:docMk/>
            <pc:sldMk cId="1474078492" sldId="261"/>
            <ac:spMk id="2" creationId="{BD9E7A4B-103B-A243-ACCD-0C9FE7384C12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1157289511" sldId="262"/>
        </pc:sldMkLst>
        <pc:spChg chg="mod">
          <ac:chgData name="Ray Glasheen" userId="c67fd889-8470-4165-8569-8911e7ff9a0a" providerId="ADAL" clId="{506579FA-F8C7-5B5D-A2A1-C8B20A0AC245}" dt="2026-04-30T10:37:10.183" v="9" actId="207"/>
          <ac:spMkLst>
            <pc:docMk/>
            <pc:sldMk cId="1157289511" sldId="262"/>
            <ac:spMk id="2" creationId="{36344FFF-13BA-424C-9540-AE5072FAFE91}"/>
          </ac:spMkLst>
        </pc:spChg>
      </pc:sldChg>
      <pc:sldChg chg="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3326974690" sldId="263"/>
        </pc:sldMkLst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3577289732" sldId="264"/>
        </pc:sldMkLst>
        <pc:spChg chg="mod">
          <ac:chgData name="Ray Glasheen" userId="c67fd889-8470-4165-8569-8911e7ff9a0a" providerId="ADAL" clId="{506579FA-F8C7-5B5D-A2A1-C8B20A0AC245}" dt="2026-04-30T10:37:16.324" v="10" actId="207"/>
          <ac:spMkLst>
            <pc:docMk/>
            <pc:sldMk cId="3577289732" sldId="264"/>
            <ac:spMk id="2" creationId="{C64E0B3B-90DF-B94B-AE01-B5E2E4D25A75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2735981974" sldId="265"/>
        </pc:sldMkLst>
        <pc:spChg chg="mod">
          <ac:chgData name="Ray Glasheen" userId="c67fd889-8470-4165-8569-8911e7ff9a0a" providerId="ADAL" clId="{506579FA-F8C7-5B5D-A2A1-C8B20A0AC245}" dt="2026-04-30T10:56:47.331" v="38"/>
          <ac:spMkLst>
            <pc:docMk/>
            <pc:sldMk cId="2735981974" sldId="265"/>
            <ac:spMk id="2" creationId="{F1C5D181-690E-C445-BC33-669C1AE0453A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998035033" sldId="266"/>
        </pc:sldMkLst>
        <pc:spChg chg="mod">
          <ac:chgData name="Ray Glasheen" userId="c67fd889-8470-4165-8569-8911e7ff9a0a" providerId="ADAL" clId="{506579FA-F8C7-5B5D-A2A1-C8B20A0AC245}" dt="2026-04-30T10:37:25.928" v="12" actId="207"/>
          <ac:spMkLst>
            <pc:docMk/>
            <pc:sldMk cId="998035033" sldId="266"/>
            <ac:spMk id="4" creationId="{0F78C5E3-8A6D-A44D-BF28-D62711E48D00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391276983" sldId="267"/>
        </pc:sldMkLst>
        <pc:spChg chg="mod">
          <ac:chgData name="Ray Glasheen" userId="c67fd889-8470-4165-8569-8911e7ff9a0a" providerId="ADAL" clId="{506579FA-F8C7-5B5D-A2A1-C8B20A0AC245}" dt="2026-04-30T10:36:34.479" v="5" actId="207"/>
          <ac:spMkLst>
            <pc:docMk/>
            <pc:sldMk cId="391276983" sldId="267"/>
            <ac:spMk id="2" creationId="{C448848D-FDC8-0E4A-A9A5-45DDD99E9CB7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1510906715" sldId="268"/>
        </pc:sldMkLst>
        <pc:spChg chg="mod">
          <ac:chgData name="Ray Glasheen" userId="c67fd889-8470-4165-8569-8911e7ff9a0a" providerId="ADAL" clId="{506579FA-F8C7-5B5D-A2A1-C8B20A0AC245}" dt="2026-04-30T10:36:56.515" v="7" actId="207"/>
          <ac:spMkLst>
            <pc:docMk/>
            <pc:sldMk cId="1510906715" sldId="268"/>
            <ac:spMk id="2" creationId="{8EE4798F-ADE4-4A47-81D7-2A692EDC350F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2444015328" sldId="269"/>
        </pc:sldMkLst>
        <pc:spChg chg="mod">
          <ac:chgData name="Ray Glasheen" userId="c67fd889-8470-4165-8569-8911e7ff9a0a" providerId="ADAL" clId="{506579FA-F8C7-5B5D-A2A1-C8B20A0AC245}" dt="2026-04-30T10:36:49.784" v="6" actId="207"/>
          <ac:spMkLst>
            <pc:docMk/>
            <pc:sldMk cId="2444015328" sldId="269"/>
            <ac:spMk id="2" creationId="{4E988BC2-77A6-DB4D-B85B-B8762C5421F1}"/>
          </ac:spMkLst>
        </pc:spChg>
      </pc:sldChg>
      <pc:sldChg chg="setBg">
        <pc:chgData name="Ray Glasheen" userId="c67fd889-8470-4165-8569-8911e7ff9a0a" providerId="ADAL" clId="{506579FA-F8C7-5B5D-A2A1-C8B20A0AC245}" dt="2026-04-30T15:32:19.186" v="47" actId="18331"/>
        <pc:sldMkLst>
          <pc:docMk/>
          <pc:sldMk cId="656950007" sldId="270"/>
        </pc:sldMkLst>
      </pc:sldChg>
      <pc:sldChg chg="setBg">
        <pc:chgData name="Ray Glasheen" userId="c67fd889-8470-4165-8569-8911e7ff9a0a" providerId="ADAL" clId="{506579FA-F8C7-5B5D-A2A1-C8B20A0AC245}" dt="2026-04-30T15:32:19.186" v="47" actId="18331"/>
        <pc:sldMkLst>
          <pc:docMk/>
          <pc:sldMk cId="3898693924" sldId="271"/>
        </pc:sldMkLst>
      </pc:sldChg>
      <pc:sldMasterChg chg="setBg modSldLayout">
        <pc:chgData name="Ray Glasheen" userId="c67fd889-8470-4165-8569-8911e7ff9a0a" providerId="ADAL" clId="{506579FA-F8C7-5B5D-A2A1-C8B20A0AC245}" dt="2026-04-30T15:32:19.186" v="47" actId="18331"/>
        <pc:sldMasterMkLst>
          <pc:docMk/>
          <pc:sldMasterMk cId="2281765972" sldId="2147483678"/>
        </pc:sldMasterMkLst>
        <pc:sldLayoutChg chg="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2281765972" sldId="2147483678"/>
            <pc:sldLayoutMk cId="2898312491" sldId="2147483679"/>
          </pc:sldLayoutMkLst>
        </pc:sldLayoutChg>
      </pc:sldMasterChg>
      <pc:sldMasterChg chg="setBg modSldLayout">
        <pc:chgData name="Ray Glasheen" userId="c67fd889-8470-4165-8569-8911e7ff9a0a" providerId="ADAL" clId="{506579FA-F8C7-5B5D-A2A1-C8B20A0AC245}" dt="2026-04-30T15:32:19.186" v="47" actId="18331"/>
        <pc:sldMasterMkLst>
          <pc:docMk/>
          <pc:sldMasterMk cId="4189170703" sldId="2147483680"/>
        </pc:sldMasterMkLst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4189170703" sldId="2147483680"/>
            <pc:sldLayoutMk cId="1131539201" sldId="2147483681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4189170703" sldId="2147483680"/>
              <pc:sldLayoutMk cId="1131539201" sldId="2147483681"/>
              <ac:spMk id="15" creationId="{091E24DE-EFB1-0B46-A1A5-D4A0F86E2C80}"/>
            </ac:spMkLst>
          </pc:spChg>
        </pc:sldLayoutChg>
      </pc:sldMasterChg>
      <pc:sldMasterChg chg="setBg modSldLayout">
        <pc:chgData name="Ray Glasheen" userId="c67fd889-8470-4165-8569-8911e7ff9a0a" providerId="ADAL" clId="{506579FA-F8C7-5B5D-A2A1-C8B20A0AC245}" dt="2026-04-30T15:32:19.186" v="47" actId="18331"/>
        <pc:sldMasterMkLst>
          <pc:docMk/>
          <pc:sldMasterMk cId="1758291486" sldId="2147483682"/>
        </pc:sldMasterMkLst>
        <pc:sldLayoutChg chg="modSp mod 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758291486" sldId="2147483682"/>
            <pc:sldLayoutMk cId="4187323503" sldId="2147483683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4187323503" sldId="2147483683"/>
              <ac:spMk id="11" creationId="{87A50152-6AF0-CB4C-8223-B92B04D86F3A}"/>
            </ac:spMkLst>
          </pc:spChg>
        </pc:sldLayoutChg>
        <pc:sldLayoutChg chg="modSp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2906598798" sldId="2147483686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2906598798" sldId="2147483686"/>
              <ac:spMk id="14" creationId="{2C0C7565-66F8-5E4F-BC70-B52629A037BD}"/>
            </ac:spMkLst>
          </pc:spChg>
        </pc:sldLayoutChg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1015417581" sldId="2147483687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015417581" sldId="2147483687"/>
              <ac:spMk id="6" creationId="{A54FBFB0-DCDC-C848-901F-75B727D01B69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015417581" sldId="2147483687"/>
              <ac:spMk id="10" creationId="{DC03047F-22E2-5B43-86A2-7583C9DB314F}"/>
            </ac:spMkLst>
          </pc:spChg>
        </pc:sldLayoutChg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304504484" sldId="2147483688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304504484" sldId="2147483688"/>
              <ac:spMk id="6" creationId="{1C79D75D-1604-BB44-B1C9-298036D703C2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304504484" sldId="2147483688"/>
              <ac:spMk id="9" creationId="{FDD66AF7-F6A9-AC40-9D50-9BAAC73B385D}"/>
            </ac:spMkLst>
          </pc:spChg>
        </pc:sldLayoutChg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1999175194" sldId="2147483689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999175194" sldId="2147483689"/>
              <ac:spMk id="11" creationId="{87A50152-6AF0-CB4C-8223-B92B04D86F3A}"/>
            </ac:spMkLst>
          </pc:spChg>
        </pc:sldLayoutChg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2602732109" sldId="2147483690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2602732109" sldId="2147483690"/>
              <ac:spMk id="5" creationId="{AD4D50A4-B734-AD41-8654-79DC681E4E1B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2602732109" sldId="2147483690"/>
              <ac:spMk id="8" creationId="{9ECF72A8-B638-3842-8B60-7DFC3C6C0C79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2602732109" sldId="2147483690"/>
              <ac:spMk id="9" creationId="{FDD66AF7-F6A9-AC40-9D50-9BAAC73B385D}"/>
            </ac:spMkLst>
          </pc:spChg>
        </pc:sldLayoutChg>
        <pc:sldLayoutChg chg="modSp mod 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758291486" sldId="2147483682"/>
            <pc:sldLayoutMk cId="1865159803" sldId="2147483692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865159803" sldId="2147483692"/>
              <ac:spMk id="11" creationId="{87A50152-6AF0-CB4C-8223-B92B04D86F3A}"/>
            </ac:spMkLst>
          </pc:spChg>
        </pc:sldLayoutChg>
        <pc:sldLayoutChg chg="modSp mod 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758291486" sldId="2147483682"/>
            <pc:sldLayoutMk cId="4070593789" sldId="2147483693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4070593789" sldId="2147483693"/>
              <ac:spMk id="11" creationId="{87A50152-6AF0-CB4C-8223-B92B04D86F3A}"/>
            </ac:spMkLst>
          </pc:spChg>
        </pc:sldLayoutChg>
        <pc:sldLayoutChg chg="modSp mod 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758291486" sldId="2147483682"/>
            <pc:sldLayoutMk cId="1038442111" sldId="2147483694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038442111" sldId="2147483694"/>
              <ac:spMk id="6" creationId="{A54FBFB0-DCDC-C848-901F-75B727D01B69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038442111" sldId="2147483694"/>
              <ac:spMk id="10" creationId="{DC03047F-22E2-5B43-86A2-7583C9DB314F}"/>
            </ac:spMkLst>
          </pc:spChg>
        </pc:sldLayoutChg>
      </pc:sldMasterChg>
      <pc:sldMasterChg chg="setBg modSldLayout">
        <pc:chgData name="Ray Glasheen" userId="c67fd889-8470-4165-8569-8911e7ff9a0a" providerId="ADAL" clId="{506579FA-F8C7-5B5D-A2A1-C8B20A0AC245}" dt="2026-04-30T15:32:19.186" v="47" actId="18331"/>
        <pc:sldMasterMkLst>
          <pc:docMk/>
          <pc:sldMasterMk cId="102519618" sldId="2147483684"/>
        </pc:sldMasterMkLst>
        <pc:sldLayoutChg chg="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02519618" sldId="2147483684"/>
            <pc:sldLayoutMk cId="3795906404" sldId="2147483685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4B101-3225-4967-95B5-ED5755256DE0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C794-77EE-4724-B493-2E0907BFA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3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EPPC25 Branded Splash Screen</a:t>
            </a: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#1 on all presentations.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b="1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The speaker should not edit, move or delete this slide.</a:t>
            </a:r>
            <a:endParaRPr lang="en-IE" sz="1200" kern="1200" dirty="0">
              <a:solidFill>
                <a:srgbClr val="FF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20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Presentation Title Slide</a:t>
            </a:r>
          </a:p>
          <a:p>
            <a:endParaRPr lang="en-US" dirty="0"/>
          </a:p>
          <a:p>
            <a:r>
              <a:rPr lang="en-US" dirty="0"/>
              <a:t>Please input your presentation title, your name, title, company name and country.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011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Break Slide</a:t>
            </a: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starting a new section of the presentation.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the name of the section in the text field.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748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/ Copy Text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text-only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is preformatted with font and colour styles.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40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 – Dark Background: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/ Copy Text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text-only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is preformatted with font and colour styles.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533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 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+ Dual Copy Text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columns of text-only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is preformatted with font and colour styles.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876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</a:t>
            </a:r>
            <a:r>
              <a:rPr lang="en-IE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– Dark Background 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+ Dual Copy Text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columns of text-only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is preformatted with font and colour styles.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627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Only</a:t>
            </a:r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only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(table, graph, image, video etc.)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 the Main Content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846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/ Copy Text + Visual-Data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 and visual-data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695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+ Title / Copy Text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and text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632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+ Dual Visual-Data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types of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 the Main Content of the presentation.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5199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1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FF4D00"/>
                </a:solidFill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1539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Text Box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323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Content : Title + Text Box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15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175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Dual Text Box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59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C0C7565-66F8-5E4F-BC70-B52629A037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6600" y="736600"/>
            <a:ext cx="10793413" cy="51958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598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17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Visual Dat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44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1C79D75D-1604-BB44-B1C9-298036D70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6264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05221B5-9309-224F-87A9-A3D8D9938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6462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757238"/>
            <a:ext cx="5243512" cy="5200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0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1885950"/>
            <a:ext cx="5100637" cy="4071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D4D50A4-B734-AD41-8654-79DC681E4E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7913" y="1885950"/>
            <a:ext cx="5372100" cy="4071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9ECF72A8-B638-3842-8B60-7DFC3C6C0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732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ent (White Background)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064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theme" Target="../theme/theme3.xml"/><Relationship Id="rId11" Type="http://schemas.openxmlformats.org/officeDocument/2006/relationships/image" Target="../media/image3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Relationship Id="rId3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7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9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86" r:id="rId5"/>
    <p:sldLayoutId id="2147483687" r:id="rId6"/>
    <p:sldLayoutId id="2147483694" r:id="rId7"/>
    <p:sldLayoutId id="2147483688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2400"/>
              <a:t>Build Your First AI Agents with Microsoft's Agent Academy</a:t>
            </a:r>
          </a:p>
          <a:p>
            <a:r>
              <a:rPr sz="2400"/>
              <a:t/>
            </a:r>
          </a:p>
          <a:p>
            <a:r>
              <a:rPr sz="2400"/>
              <a:t>Nick Doelman &amp; Ulrikke Akerbæk</a:t>
            </a:r>
          </a:p>
          <a:p>
            <a:r>
              <a:rPr sz="2400"/>
              <a:t>European Power Platform Conference 2026  •  #EPPC26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Nick Doelman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Independent Power Platform Architect</a:t>
            </a:r>
          </a:p>
          <a:p>
            <a:r>
              <a:rPr sz="2200"/>
              <a:t>Canada  •  nick@readyxrm.com  •  @readyxrm</a:t>
            </a:r>
          </a:p>
          <a:p>
            <a:r>
              <a:rPr sz="2200"/>
              <a:t>www.nickdoelman.com</a:t>
            </a:r>
          </a:p>
          <a:p>
            <a:r>
              <a:rPr sz="2200"/>
              <a:t>Power Platform BOOST Podcast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Ulrikke Akerbæk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Power Platform Practice Lead, Itera</a:t>
            </a:r>
          </a:p>
          <a:p>
            <a:r>
              <a:rPr sz="2200"/>
              <a:t>Norway  •  me@ulrikke.rocks  •  @ulrikkeakerbk</a:t>
            </a:r>
          </a:p>
          <a:p>
            <a:r>
              <a:rPr sz="2200"/>
              <a:t>ulrikke.akerbak.com</a:t>
            </a:r>
          </a:p>
          <a:p>
            <a:r>
              <a:rPr sz="2200"/>
              <a:t>Power Platform BOOST Podcast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Power Platform BOOST Podcast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Co-hosted by Nick Doelman and Ulrikke Akerbæk</a:t>
            </a:r>
          </a:p>
          <a:p>
            <a:r>
              <a:rPr sz="2200"/>
              <a:t>Weekly episodes on Power Platform, Copilot Studio, and the community</a:t>
            </a:r>
          </a:p>
          <a:p>
            <a:r>
              <a:rPr sz="2200"/>
              <a:t>Find us wherever you get your podcasts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Who Are You?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What's your name?</a:t>
            </a:r>
          </a:p>
          <a:p>
            <a:r>
              <a:rPr sz="2400"/>
              <a:t>Where are you from?</a:t>
            </a:r>
          </a:p>
          <a:p>
            <a:r>
              <a:rPr sz="2400"/>
              <a:t>What is your background?</a:t>
            </a:r>
          </a:p>
          <a:p>
            <a:r>
              <a:rPr sz="2400"/>
              <a:t>What do you expect from today?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Housekeeping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Workshop environments are ready — credentials on your handout</a:t>
            </a:r>
          </a:p>
          <a:p>
            <a:r>
              <a:rPr sz="2200"/>
              <a:t>Install the Microsoft Authenticator app if you haven't already</a:t>
            </a:r>
          </a:p>
          <a:p>
            <a:r>
              <a:rPr sz="2200"/>
              <a:t>Set up a dedicated browser profile for the workshop tenant</a:t>
            </a:r>
          </a:p>
          <a:p>
            <a:r>
              <a:rPr sz="2200"/>
              <a:t>Environments will expire 30 days after the workshop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Tips for Labs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Open the lab guide on your phone, tablet, or a second screen</a:t>
            </a:r>
          </a:p>
          <a:p>
            <a:r>
              <a:rPr sz="2200"/>
              <a:t>Or use Windows split-screen alongside the browser</a:t>
            </a:r>
          </a:p>
          <a:p>
            <a:r>
              <a:rPr sz="2200"/>
              <a:t>Lab guide: microsoft.github.io/agent-academy/recruit/</a:t>
            </a:r>
          </a:p>
          <a:p>
            <a:r>
              <a:rPr sz="2200"/>
              <a:t>Ask your neighbours — collaboration is encouraged!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b="1" sz="3600"/>
              <a:t>Foundations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What Is Agent Academy?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Microsoft's hands-on curriculum for building agents with Copilot Studio</a:t>
            </a:r>
          </a:p>
          <a:p>
            <a:r>
              <a:rPr sz="2200"/>
              <a:t>Three tiers of training:</a:t>
            </a:r>
          </a:p>
          <a:p>
            <a:r>
              <a:rPr sz="2200"/>
              <a:t>  • Recruit → Operative → Commander</a:t>
            </a:r>
          </a:p>
          <a:p>
            <a:r>
              <a:rPr sz="2200"/>
              <a:t>Today we tackle Recruit: 13 lessons from zero to deployed agent</a:t>
            </a:r>
          </a:p>
          <a:p>
            <a:r>
              <a:rPr sz="2200"/>
              <a:t>Course site: microsoft.github.io/agent-academy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Meet BIT!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BIT is the Agent Academy mascot</a:t>
            </a:r>
          </a:p>
          <a:p>
            <a:r>
              <a:rPr sz="2200"/>
              <a:t>He will guide us through the missions and lessons today</a:t>
            </a:r>
          </a:p>
          <a:p>
            <a:r>
              <a:rPr sz="2200"/>
              <a:t>Recruit → Operative → Commander</a:t>
            </a:r>
          </a:p>
          <a:p>
            <a:r>
              <a:rPr sz="2200"/>
              <a:t>Your goal: complete all missions and claim your Recruit badge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What Are Agents?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LLMs: the AI engine behind conversational agents</a:t>
            </a:r>
          </a:p>
          <a:p>
            <a:r>
              <a:rPr sz="2200"/>
              <a:t>RAG: grounding responses in your organisation's data</a:t>
            </a:r>
          </a:p>
          <a:p>
            <a:r>
              <a:rPr sz="2200"/>
              <a:t>Orchestration: coordinating knowledge, skills, and actions</a:t>
            </a:r>
          </a:p>
          <a:p>
            <a:r>
              <a:rPr sz="2200"/>
              <a:t>Agents combine all three to understand, reason, and 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Autonomous vs. Declarative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000"/>
              <a:t>Declarative Agents</a:t>
            </a:r>
          </a:p>
          <a:p>
            <a:r>
              <a:rPr sz="2000"/>
              <a:t>  You define the rules. The agent follows your prompts and instructions.</a:t>
            </a:r>
          </a:p>
          <a:p>
            <a:r>
              <a:rPr sz="2000"/>
              <a:t>  Predictable, controlled — great for specific tasks.</a:t>
            </a:r>
          </a:p>
          <a:p>
            <a:r>
              <a:rPr sz="2000"/>
              <a:t/>
            </a:r>
          </a:p>
          <a:p>
            <a:r>
              <a:rPr sz="2000"/>
              <a:t>Autonomous Agents</a:t>
            </a:r>
          </a:p>
          <a:p>
            <a:r>
              <a:rPr sz="2000"/>
              <a:t>  The agent decides how to act using AI reasoning.</a:t>
            </a:r>
          </a:p>
          <a:p>
            <a:r>
              <a:rPr sz="2000"/>
              <a:t>  Responds to events and adapts. More powerful, less predictable.</a:t>
            </a:r>
          </a:p>
          <a:p>
            <a:r>
              <a:rPr sz="2000"/>
              <a:t/>
            </a:r>
          </a:p>
          <a:p>
            <a:r>
              <a:rPr sz="2000"/>
              <a:t>Today we build both — starting simple, ending autonomous.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Copilot Studio: The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000"/>
              <a:t>Knowledge</a:t>
            </a:r>
          </a:p>
          <a:p>
            <a:r>
              <a:rPr sz="2000"/>
              <a:t>  What your agent knows — SharePoint, Dataverse, websites, files</a:t>
            </a:r>
          </a:p>
          <a:p>
            <a:r>
              <a:rPr sz="2000"/>
              <a:t/>
            </a:r>
          </a:p>
          <a:p>
            <a:r>
              <a:rPr sz="2000"/>
              <a:t>Tools</a:t>
            </a:r>
          </a:p>
          <a:p>
            <a:r>
              <a:rPr sz="2000"/>
              <a:t>  What your agent can do — topics, flows, actions, connectors</a:t>
            </a:r>
          </a:p>
          <a:p>
            <a:r>
              <a:rPr sz="2000"/>
              <a:t/>
            </a:r>
          </a:p>
          <a:p>
            <a:r>
              <a:rPr sz="2000"/>
              <a:t>Instructions</a:t>
            </a:r>
          </a:p>
          <a:p>
            <a:r>
              <a:rPr sz="2000"/>
              <a:t>  How your agent behaves — its persona, tone, and rules</a:t>
            </a:r>
          </a:p>
          <a:p>
            <a:r>
              <a:rPr sz="2000"/>
              <a:t/>
            </a:r>
          </a:p>
          <a:p>
            <a:r>
              <a:rPr sz="2000"/>
              <a:t>Triggers</a:t>
            </a:r>
          </a:p>
          <a:p>
            <a:r>
              <a:rPr sz="2000"/>
              <a:t>  When your agent acts — conversation-triggered or event-driven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The Copilot Studio Overview Page  ★ New in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000"/>
              <a:t>Every agent has a single scrollable Overview page — your main workspace.</a:t>
            </a:r>
          </a:p>
          <a:p>
            <a:r>
              <a:rPr sz="2000"/>
              <a:t/>
            </a:r>
          </a:p>
          <a:p>
            <a:r>
              <a:rPr sz="2000"/>
              <a:t>What you'll find there:</a:t>
            </a:r>
          </a:p>
          <a:p>
            <a:r>
              <a:rPr sz="2000"/>
              <a:t>  Instructions  |  Triggers  |  Knowledge</a:t>
            </a:r>
          </a:p>
          <a:p>
            <a:r>
              <a:rPr sz="2000"/>
              <a:t>  Tools  |  Topics  |  Channels</a:t>
            </a:r>
          </a:p>
          <a:p>
            <a:r>
              <a:rPr sz="2000"/>
              <a:t/>
            </a:r>
          </a:p>
          <a:p>
            <a:r>
              <a:rPr sz="2000"/>
              <a:t>Test pane always visible on the right.</a:t>
            </a:r>
          </a:p>
          <a:p>
            <a:r>
              <a:rPr sz="2000"/>
              <a:t>Publish button at top right. Settings gear ⚙️ for agent options.</a:t>
            </a:r>
          </a:p>
          <a:p>
            <a:r>
              <a:rPr sz="2000"/>
              <a:t/>
            </a:r>
          </a:p>
          <a:p>
            <a:r>
              <a:rPr sz="2000"/>
              <a:t>Navigation tip: Channels is under the +8 overflow menu in the top tab bar.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09:00  Intro and foundations</a:t>
            </a:r>
          </a:p>
          <a:p>
            <a:r>
              <a:rPr sz="2200"/>
              <a:t>10:00  Mission #1 — Your first agent</a:t>
            </a:r>
          </a:p>
          <a:p>
            <a:r>
              <a:rPr sz="2200"/>
              <a:t>10:45  Mission #2 — Build (Declarative Agents, Solutions)</a:t>
            </a:r>
          </a:p>
          <a:p>
            <a:r>
              <a:rPr sz="2200"/>
              <a:t>12:00  Lunch</a:t>
            </a:r>
          </a:p>
          <a:p>
            <a:r>
              <a:rPr sz="2200"/>
              <a:t>13:00  Mission #3 — Enhance (Topics, Cards, Flows)</a:t>
            </a:r>
          </a:p>
          <a:p>
            <a:r>
              <a:rPr sz="2200"/>
              <a:t>14:30  Mission #4 — Deploy (Event triggers, Publishing)</a:t>
            </a:r>
          </a:p>
          <a:p>
            <a:r>
              <a:rPr sz="2200"/>
              <a:t>15:30  Mission Complete (Licensing, badge, wrap-up)</a:t>
            </a:r>
          </a:p>
          <a:p>
            <a:r>
              <a:rPr sz="2200"/>
              <a:t>16:00  All done!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Mission Briefing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1800"/>
              <a:t>Mission #1: Your First Agent</a:t>
            </a:r>
          </a:p>
          <a:p>
            <a:r>
              <a:rPr sz="1800"/>
              <a:t>  Lesson 05: Using a Pre-Built Agent</a:t>
            </a:r>
          </a:p>
          <a:p>
            <a:r>
              <a:rPr sz="1800"/>
              <a:t/>
            </a:r>
          </a:p>
          <a:p>
            <a:r>
              <a:rPr sz="1800"/>
              <a:t>Mission #2: Build</a:t>
            </a:r>
          </a:p>
          <a:p>
            <a:r>
              <a:rPr sz="1800"/>
              <a:t>  Lesson 03: Declarative Agents</a:t>
            </a:r>
          </a:p>
          <a:p>
            <a:r>
              <a:rPr sz="1800"/>
              <a:t>  Lesson 04: Creating a Solution</a:t>
            </a:r>
          </a:p>
          <a:p>
            <a:r>
              <a:rPr sz="1800"/>
              <a:t>  Lesson 06: Create Agent From Conversation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r>
              <a:rPr sz="1800"/>
              <a:t>Mission #3: Enhance</a:t>
            </a:r>
          </a:p>
          <a:p>
            <a:r>
              <a:rPr sz="1800"/>
              <a:t>  Lesson 07: Add Topics With Triggers</a:t>
            </a:r>
          </a:p>
          <a:p>
            <a:r>
              <a:rPr sz="1800"/>
              <a:t>  Lesson 08: Add Adaptive Cards</a:t>
            </a:r>
          </a:p>
          <a:p>
            <a:r>
              <a:rPr sz="1800"/>
              <a:t>  Lesson 09: Add An Agent Flow</a:t>
            </a:r>
          </a:p>
          <a:p>
            <a:r>
              <a:rPr sz="1800"/>
              <a:t/>
            </a:r>
          </a:p>
          <a:p>
            <a:r>
              <a:rPr sz="1800"/>
              <a:t>Mission #4: Deploy</a:t>
            </a:r>
          </a:p>
          <a:p>
            <a:r>
              <a:rPr sz="1800"/>
              <a:t>  Lesson 10: Add Event Triggers</a:t>
            </a:r>
          </a:p>
          <a:p>
            <a:r>
              <a:rPr sz="1800"/>
              <a:t>  Lesson 11: Publish Your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FRAGO (Fragmentary Order)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FRAGO communicates only what has changed:</a:t>
            </a:r>
          </a:p>
          <a:p>
            <a:r>
              <a:rPr sz="2200"/>
              <a:t>  — new tasks, updated objectives, shifted timelines, changed conditions</a:t>
            </a:r>
          </a:p>
          <a:p>
            <a:r>
              <a:rPr sz="2200"/>
              <a:t/>
            </a:r>
          </a:p>
          <a:p>
            <a:r>
              <a:rPr sz="2200"/>
              <a:t>Sometimes the UI has changed or tech has a glitch.</a:t>
            </a:r>
          </a:p>
          <a:p>
            <a:r>
              <a:rPr sz="2200"/>
              <a:t>We've flagged known differences throughout — we've got you covered.</a:t>
            </a:r>
          </a:p>
          <a:p>
            <a:r>
              <a:rPr sz="2200"/>
              <a:t/>
            </a:r>
          </a:p>
          <a:p>
            <a:r>
              <a:rPr sz="2200"/>
              <a:t>When you see a FRAGO slide: it overrides the lab guide for that step.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b="1" sz="3600"/>
              <a:t>Mission #1: Your First Agent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05: Using a Pre-Built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Use a prebuilt template to get your first agent running</a:t>
            </a:r>
          </a:p>
          <a:p>
            <a:r>
              <a:rPr sz="2400"/>
              <a:t>Browse the template gallery in Copilot Studio</a:t>
            </a:r>
          </a:p>
          <a:p>
            <a:r>
              <a:rPr sz="2400"/>
              <a:t>Pick a template, customise it, and test it</a:t>
            </a:r>
          </a:p>
          <a:p>
            <a:r>
              <a:rPr sz="2400"/>
              <a:t>Your first win of the day!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05: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1. Open Copilot Studio → navigate to your environment → select Create</a:t>
            </a:r>
          </a:p>
          <a:p>
            <a:r>
              <a:rPr sz="2200"/>
              <a:t>2. Browse Templates → explore the prebuilt agent gallery → pick one</a:t>
            </a:r>
          </a:p>
          <a:p>
            <a:r>
              <a:rPr sz="2200"/>
              <a:t>3. Customise → adjust the agent name, greeting, and instructions</a:t>
            </a:r>
          </a:p>
          <a:p>
            <a:r>
              <a:rPr sz="2200"/>
              <a:t>4. Open Agent Settings → ensure Generative AI orchestration is ON</a:t>
            </a:r>
          </a:p>
          <a:p>
            <a:r>
              <a:rPr sz="2200"/>
              <a:t>5. Test → open the test pane and have a conversation with your agent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FRAGO: Generative AI Orchestration Setting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In Agent Settings → Orchestration, ensure this option is selected:</a:t>
            </a:r>
          </a:p>
          <a:p>
            <a:r>
              <a:rPr sz="2200"/>
              <a:t/>
            </a:r>
          </a:p>
          <a:p>
            <a:r>
              <a:rPr sz="2200"/>
              <a:t>  ● Yes — Responses will be dynamic, using available tools</a:t>
            </a:r>
          </a:p>
          <a:p>
            <a:r>
              <a:rPr sz="2200"/>
              <a:t>          and knowledge as appropriate.</a:t>
            </a:r>
          </a:p>
          <a:p>
            <a:r>
              <a:rPr sz="2200"/>
              <a:t/>
            </a:r>
          </a:p>
          <a:p>
            <a:r>
              <a:rPr sz="2200"/>
              <a:t>If it reads 'No — Use classic orchestration' your agent won't use</a:t>
            </a:r>
          </a:p>
          <a:p>
            <a:r>
              <a:rPr sz="2200"/>
              <a:t>knowledge sources effectively. Switch it to Yes and Save.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FRAGO: Force Newest Version Dialog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When publishing you may see a 'Force newest version' checkbox.</a:t>
            </a:r>
          </a:p>
          <a:p>
            <a:r>
              <a:rPr sz="2200"/>
              <a:t>This is a new feature — simply ignore it for this lab.</a:t>
            </a:r>
          </a:p>
          <a:p>
            <a:r>
              <a:rPr sz="2200"/>
              <a:t>Click Publish without checking the box.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FRAGO: Open Teams in the Browser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If asked to open the Teams desktop app:</a:t>
            </a:r>
          </a:p>
          <a:p>
            <a:r>
              <a:rPr sz="2200"/>
              <a:t/>
            </a:r>
          </a:p>
          <a:p>
            <a:r>
              <a:rPr sz="2200"/>
              <a:t>  → Choose 'Use the web app instead'</a:t>
            </a:r>
          </a:p>
          <a:p>
            <a:r>
              <a:rPr sz="2200"/>
              <a:t/>
            </a:r>
          </a:p>
          <a:p>
            <a:r>
              <a:rPr sz="2200"/>
              <a:t>If Teams desktop opens on your computer, simply close it.</a:t>
            </a:r>
          </a:p>
          <a:p>
            <a:r>
              <a:rPr sz="2200"/>
              <a:t>We will use the Teams web app for all publishing steps.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Let's Go! — Mission 05: Using a Pre-Built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CODENAME: OPERATION SAFE TRAVELS</a:t>
            </a:r>
          </a:p>
          <a:p>
            <a:r>
              <a:rPr sz="2200"/>
              <a:t>Difficulty: ★☆☆  |  Time: ~30 min</a:t>
            </a:r>
          </a:p>
          <a:p>
            <a:r>
              <a:rPr sz="2200"/>
              <a:t>Products: Microsoft Copilot Studio, Microsoft 365, Microsoft Teams</a:t>
            </a:r>
          </a:p>
          <a:p>
            <a:r>
              <a:rPr sz="2200"/>
              <a:t>Tags: Prebuilt Agents</a:t>
            </a:r>
          </a:p>
          <a:p>
            <a:r>
              <a:rPr sz="2200"/>
              <a:t/>
            </a:r>
          </a:p>
          <a:p>
            <a:r>
              <a:rPr sz="2200"/>
              <a:t>Lab guide: microsoft.github.io/agent-academy/recruit/mission-05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Mission Debrief #1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Q1: What are the four building blocks in Copilot Studio?</a:t>
            </a:r>
          </a:p>
          <a:p>
            <a:r>
              <a:rPr sz="2400"/>
              <a:t>Q2: Declarative vs. autonomous — what is the key difference?</a:t>
            </a:r>
          </a:p>
          <a:p>
            <a:r>
              <a:rPr sz="2400"/>
              <a:t>Q3: What did you customise in your prebuilt agent?</a:t>
            </a:r>
          </a:p>
          <a:p>
            <a:r>
              <a:rPr sz="2400"/>
              <a:t/>
            </a:r>
          </a:p>
          <a:p>
            <a:r>
              <a:rPr sz="2400"/>
              <a:t>Pair up: show your neighbour your agent!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b="1" sz="3600"/>
              <a:t>Mission #2: Build</a:t>
            </a:r>
          </a:p>
          <a:p>
            <a:r>
              <a:rPr b="1" sz="3600"/>
              <a:t>Creating &amp; Packaging Agents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03: Create a Declarative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Build an agent grounded in a system prompt</a:t>
            </a:r>
          </a:p>
          <a:p>
            <a:r>
              <a:rPr sz="2400"/>
              <a:t>You write the instructions — the agent's personality and purpose</a:t>
            </a:r>
          </a:p>
          <a:p>
            <a:r>
              <a:rPr sz="2400"/>
              <a:t>Connect it to Microsoft 365 Copilot</a:t>
            </a:r>
          </a:p>
          <a:p>
            <a:r>
              <a:rPr sz="2400"/>
              <a:t>Key skill: prompt engineering for agents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03: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1. Create a new agent → start from blank → name your agent</a:t>
            </a:r>
          </a:p>
          <a:p>
            <a:r>
              <a:rPr sz="2200"/>
              <a:t>2. Write the system prompt → define purpose, tone, and boundaries</a:t>
            </a:r>
          </a:p>
          <a:p>
            <a:r>
              <a:rPr sz="2200"/>
              <a:t>3. Add to Microsoft 365 Copilot → configure the declarative agent channel</a:t>
            </a:r>
          </a:p>
          <a:p>
            <a:r>
              <a:rPr sz="2200"/>
              <a:t>4. Test in Copilot → verify your agent responds correctly within M365 Copilot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FRAGO: Publish to Teams — Modal Failure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If publishing to Teams shows an error modal:</a:t>
            </a:r>
          </a:p>
          <a:p>
            <a:r>
              <a:rPr sz="2200"/>
              <a:t/>
            </a:r>
          </a:p>
          <a:p>
            <a:r>
              <a:rPr sz="2200"/>
              <a:t>  → Close the modal using the X in the top-right corner</a:t>
            </a:r>
          </a:p>
          <a:p>
            <a:r>
              <a:rPr sz="2200"/>
              <a:t>  → Wait 1–2 minutes for Teams to catch up</a:t>
            </a:r>
          </a:p>
          <a:p>
            <a:r>
              <a:rPr sz="2200"/>
              <a:t>  → Try publishing again</a:t>
            </a:r>
          </a:p>
          <a:p>
            <a:r>
              <a:rPr sz="2200"/>
              <a:t/>
            </a:r>
          </a:p>
          <a:p>
            <a:r>
              <a:rPr sz="2200"/>
              <a:t>Teams propagation can take a few minutes. Be patient!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FRAGO: Developer Mode — May Not Work First Try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Developer mode in M365 Copilot might not activate immediately.</a:t>
            </a:r>
          </a:p>
          <a:p>
            <a:r>
              <a:rPr sz="2200"/>
              <a:t>If your declarative agent doesn't appear:</a:t>
            </a:r>
          </a:p>
          <a:p>
            <a:r>
              <a:rPr sz="2200"/>
              <a:t/>
            </a:r>
          </a:p>
          <a:p>
            <a:r>
              <a:rPr sz="2200"/>
              <a:t>  → Wait 2–3 minutes and refresh</a:t>
            </a:r>
          </a:p>
          <a:p>
            <a:r>
              <a:rPr sz="2200"/>
              <a:t>  → Publish the agent again</a:t>
            </a:r>
          </a:p>
          <a:p>
            <a:r>
              <a:rPr sz="2200"/>
              <a:t>  → Try in a fresh browser tab</a:t>
            </a:r>
          </a:p>
          <a:p>
            <a:r>
              <a:rPr sz="2200"/>
              <a:t/>
            </a:r>
          </a:p>
          <a:p>
            <a:r>
              <a:rPr sz="2200"/>
              <a:t>This is a known delay in tenant propagation.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Let's Go! — Mission 03: Deploy a Declarative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CODENAME: OPERATION COPILOT EXTENSION</a:t>
            </a:r>
          </a:p>
          <a:p>
            <a:r>
              <a:rPr sz="2200"/>
              <a:t>Difficulty: ★☆☆  |  Time: ~60 min</a:t>
            </a:r>
          </a:p>
          <a:p>
            <a:r>
              <a:rPr sz="2200"/>
              <a:t>Products: Microsoft Copilot Studio, Microsoft 365, Microsoft Teams</a:t>
            </a:r>
          </a:p>
          <a:p>
            <a:r>
              <a:rPr sz="2200"/>
              <a:t>Tags: Declarative Agents</a:t>
            </a:r>
          </a:p>
          <a:p>
            <a:r>
              <a:rPr sz="2200"/>
              <a:t/>
            </a:r>
          </a:p>
          <a:p>
            <a:r>
              <a:rPr sz="2200"/>
              <a:t>Lab guide: microsoft.github.io/agent-academy/recruit/mission-03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04: Creating a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Why solutions matter:</a:t>
            </a:r>
          </a:p>
          <a:p>
            <a:r>
              <a:rPr sz="2200"/>
              <a:t>  Solutions package your agent for reuse and deployment</a:t>
            </a:r>
          </a:p>
          <a:p>
            <a:r>
              <a:rPr sz="2200"/>
              <a:t>  Move agents between environments (dev → test → production)</a:t>
            </a:r>
          </a:p>
          <a:p>
            <a:r>
              <a:rPr sz="2200"/>
              <a:t>  Manage dependencies and version control</a:t>
            </a:r>
          </a:p>
          <a:p>
            <a:r>
              <a:rPr sz="2200"/>
              <a:t>  Think of it as the shipping container for your agent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04: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1. Open Power Apps maker portal → create a new solution</a:t>
            </a:r>
          </a:p>
          <a:p>
            <a:r>
              <a:rPr sz="2200"/>
              <a:t>2. Add your agent to the solution (include all dependencies)</a:t>
            </a:r>
          </a:p>
          <a:p>
            <a:r>
              <a:rPr sz="2200"/>
              <a:t>3. Review components — agent, topics, connections, flows</a:t>
            </a:r>
          </a:p>
          <a:p>
            <a:r>
              <a:rPr sz="2200"/>
              <a:t>4. Set as preferred solution: Settings → Advanced → Preferred solution</a:t>
            </a:r>
          </a:p>
          <a:p>
            <a:r>
              <a:rPr sz="2200"/>
              <a:t>5. Export (optional) — managed or unmanaged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Let's Go! — Mission 04: Creating a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CODENAME: OPERATION CTRL-ALT-PACKAGE</a:t>
            </a:r>
          </a:p>
          <a:p>
            <a:r>
              <a:rPr sz="2200"/>
              <a:t>Difficulty: ★☆☆  |  Time: ~45 min</a:t>
            </a:r>
          </a:p>
          <a:p>
            <a:r>
              <a:rPr sz="2200"/>
              <a:t>Products: Microsoft Copilot Studio, Microsoft Power Platform</a:t>
            </a:r>
          </a:p>
          <a:p>
            <a:r>
              <a:rPr sz="2200"/>
              <a:t>Tags: Solutions</a:t>
            </a:r>
          </a:p>
          <a:p>
            <a:r>
              <a:rPr sz="2200"/>
              <a:t/>
            </a:r>
          </a:p>
          <a:p>
            <a:r>
              <a:rPr sz="2200"/>
              <a:t>Lab guide: microsoft.github.io/agent-academy/recruit/mission-04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06: Create Agent from Conversation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Ground your agent in knowledge sources</a:t>
            </a:r>
          </a:p>
          <a:p>
            <a:r>
              <a:rPr sz="2400"/>
              <a:t>Connect SharePoint, files, or websites as knowledge</a:t>
            </a:r>
          </a:p>
          <a:p>
            <a:r>
              <a:rPr sz="2400"/>
              <a:t>The agent uses RAG to retrieve and generate answers</a:t>
            </a:r>
          </a:p>
          <a:p>
            <a:r>
              <a:rPr sz="2400"/>
              <a:t>This is where agents get smart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FRAGO: Set AI Model to GPT-4.1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During agent creation, set the agent model to GPT-4.1:</a:t>
            </a:r>
          </a:p>
          <a:p>
            <a:r>
              <a:rPr sz="2200"/>
              <a:t/>
            </a:r>
          </a:p>
          <a:p>
            <a:r>
              <a:rPr sz="2200"/>
              <a:t>  Overview page → Details section → 'Select your agent's model'</a:t>
            </a:r>
          </a:p>
          <a:p>
            <a:r>
              <a:rPr sz="2200"/>
              <a:t>  Choose GPT-4.1 from the dropdown</a:t>
            </a:r>
          </a:p>
          <a:p>
            <a:r>
              <a:rPr sz="2200"/>
              <a:t/>
            </a:r>
          </a:p>
          <a:p>
            <a:r>
              <a:rPr sz="2200"/>
              <a:t>GPT-4o was retired in October 2025.</a:t>
            </a:r>
          </a:p>
          <a:p>
            <a:r>
              <a:rPr sz="2200"/>
              <a:t>GPT-4.1 is the current default — verify it's selected.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06: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1. Home → describe your agent in natural language → AI provisions it</a:t>
            </a:r>
          </a:p>
          <a:p>
            <a:r>
              <a:rPr sz="2200"/>
              <a:t>2. Review AI suggestions (name, instructions, knowledge, topics)</a:t>
            </a:r>
          </a:p>
          <a:p>
            <a:r>
              <a:rPr sz="2200"/>
              <a:t>3. Add knowledge sources → connect your SharePoint site</a:t>
            </a:r>
          </a:p>
          <a:p>
            <a:r>
              <a:rPr sz="2200"/>
              <a:t>4. Test with real questions — only answerable from your connected data</a:t>
            </a:r>
          </a:p>
          <a:p>
            <a:r>
              <a:rPr sz="2200"/>
              <a:t>5. Refine — adjust instructions and knowledge scope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Let's Go! — Mission 06: Create a Custom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CODENAME: OPERATION AGENT FORGE</a:t>
            </a:r>
          </a:p>
          <a:p>
            <a:r>
              <a:rPr sz="2200"/>
              <a:t>Difficulty: ★☆☆  |  Time: ~75 min</a:t>
            </a:r>
          </a:p>
          <a:p>
            <a:r>
              <a:rPr sz="2200"/>
              <a:t>Products: Microsoft Copilot Studio, SharePoint, Microsoft Learn</a:t>
            </a:r>
          </a:p>
          <a:p>
            <a:r>
              <a:rPr sz="2200"/>
              <a:t>Tags: Declarative Agents</a:t>
            </a:r>
          </a:p>
          <a:p>
            <a:r>
              <a:rPr sz="2200"/>
              <a:t/>
            </a:r>
          </a:p>
          <a:p>
            <a:r>
              <a:rPr sz="2200"/>
              <a:t>Lab guide: microsoft.github.io/agent-academy/recruit/mission-06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Mission Debrief #2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Q1: What is the role of a system prompt in a declarative agent?</a:t>
            </a:r>
          </a:p>
          <a:p>
            <a:r>
              <a:rPr sz="2400"/>
              <a:t>Q2: Why package an agent into a solution?</a:t>
            </a:r>
          </a:p>
          <a:p>
            <a:r>
              <a:rPr sz="2400"/>
              <a:t>Q3: How does knowledge grounding change agent answers?</a:t>
            </a:r>
          </a:p>
          <a:p>
            <a:r>
              <a:rPr sz="2400"/>
              <a:t/>
            </a:r>
          </a:p>
          <a:p>
            <a:r>
              <a:rPr sz="2400"/>
              <a:t>Share your IT Help Desk agent with someone next to you!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b="1" sz="3600"/>
              <a:t>Mission #3: Enhance</a:t>
            </a:r>
          </a:p>
          <a:p>
            <a:r>
              <a:rPr b="1" sz="3600"/>
              <a:t>Topics, Cards &amp; Flows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07: Add Topics With Triggers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Define custom question-and-answer paths</a:t>
            </a:r>
          </a:p>
          <a:p>
            <a:r>
              <a:rPr sz="2400"/>
              <a:t>Topics let you control exactly how the agent responds</a:t>
            </a:r>
          </a:p>
          <a:p>
            <a:r>
              <a:rPr sz="2400"/>
              <a:t>Triggers detect when a user asks about a subject</a:t>
            </a:r>
          </a:p>
          <a:p>
            <a:r>
              <a:rPr sz="2400"/>
              <a:t>When AI alone isn't enough, Topics give you precision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07: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1. Topics tab → + Add a topic → From blank</a:t>
            </a:r>
          </a:p>
          <a:p>
            <a:r>
              <a:rPr sz="2200"/>
              <a:t>2. Name your topic and add trigger phrases</a:t>
            </a:r>
          </a:p>
          <a:p>
            <a:r>
              <a:rPr sz="2200"/>
              <a:t>3. Build the conversation flow — message nodes, questions, conditions</a:t>
            </a:r>
          </a:p>
          <a:p>
            <a:r>
              <a:rPr sz="2200"/>
              <a:t>4. Add branching logic based on user responses</a:t>
            </a:r>
          </a:p>
          <a:p>
            <a:r>
              <a:rPr sz="2200"/>
              <a:t>5. Test → trigger the topic and walk through the full conversation path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Let's Go! — Mission 07: Add a Topic with Triggers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CODENAME: OPERATION STAY ON TOPIC</a:t>
            </a:r>
          </a:p>
          <a:p>
            <a:r>
              <a:rPr sz="2200"/>
              <a:t>Difficulty: ★☆☆  |  Time: ~60 min</a:t>
            </a:r>
          </a:p>
          <a:p>
            <a:r>
              <a:rPr sz="2200"/>
              <a:t>Products: Microsoft Copilot Studio, SharePoint</a:t>
            </a:r>
          </a:p>
          <a:p>
            <a:r>
              <a:rPr sz="2200"/>
              <a:t>Tags: Topics &amp; Dialogs, Triggers</a:t>
            </a:r>
          </a:p>
          <a:p>
            <a:r>
              <a:rPr sz="2200"/>
              <a:t/>
            </a:r>
          </a:p>
          <a:p>
            <a:r>
              <a:rPr sz="2200"/>
              <a:t>Lab guide: microsoft.github.io/agent-academy/recruit/mission-07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08: Add Adaptive Cards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Rich, interactive UI inside your agent</a:t>
            </a:r>
          </a:p>
          <a:p>
            <a:r>
              <a:rPr sz="2200"/>
              <a:t>Adaptive Cards display forms, buttons, and data inside the chat</a:t>
            </a:r>
          </a:p>
          <a:p>
            <a:r>
              <a:rPr sz="2200"/>
              <a:t>Use Power Fx to bind card data to SharePoint lists</a:t>
            </a:r>
          </a:p>
          <a:p>
            <a:r>
              <a:rPr sz="2200"/>
              <a:t>Collect structured input from users — not just free text</a:t>
            </a:r>
          </a:p>
          <a:p>
            <a:r>
              <a:rPr sz="2200"/>
              <a:t>This is where your agent starts looking professional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08: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1. Design your Adaptive Card — use the Adaptive Card Designer</a:t>
            </a:r>
          </a:p>
          <a:p>
            <a:r>
              <a:rPr sz="2200"/>
              <a:t>2. Bind to SharePoint data using Power Fx</a:t>
            </a:r>
          </a:p>
          <a:p>
            <a:r>
              <a:rPr sz="2200"/>
              <a:t>3. Insert the card as a message node in your conversation flow</a:t>
            </a:r>
          </a:p>
          <a:p>
            <a:r>
              <a:rPr sz="2200"/>
              <a:t>4. Handle user input — capture what the user submits through the card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Let's Go! — Mission 08: Enhance with Adaptive Cards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CODENAME: OPERATION INTERFACE UPLIFT</a:t>
            </a:r>
          </a:p>
          <a:p>
            <a:r>
              <a:rPr sz="2200"/>
              <a:t>Difficulty: ★☆☆  |  Time: ~45 min</a:t>
            </a:r>
          </a:p>
          <a:p>
            <a:r>
              <a:rPr sz="2200"/>
              <a:t>Products: Microsoft Copilot Studio, SharePoint</a:t>
            </a:r>
          </a:p>
          <a:p>
            <a:r>
              <a:rPr sz="2200"/>
              <a:t>Tags: Adaptive Cards</a:t>
            </a:r>
          </a:p>
          <a:p>
            <a:r>
              <a:rPr sz="2200"/>
              <a:t/>
            </a:r>
          </a:p>
          <a:p>
            <a:r>
              <a:rPr sz="2200"/>
              <a:t>Lab guide: microsoft.github.io/agent-academy/recruit/mission-08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09: Add an Agent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Connect your agent to back-end automation</a:t>
            </a:r>
          </a:p>
          <a:p>
            <a:r>
              <a:rPr sz="2400"/>
              <a:t>Agent Flows trigger Power Automate from conversation</a:t>
            </a:r>
          </a:p>
          <a:p>
            <a:r>
              <a:rPr sz="2400"/>
              <a:t>Pass Adaptive Card input to a flow for processing</a:t>
            </a:r>
          </a:p>
          <a:p>
            <a:r>
              <a:rPr sz="2400"/>
              <a:t>Your agent can now do things, not just talk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What's New: Agent Flows vs. Workflows (2026)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000"/>
              <a:t>Two automation experiences now exist in Copilot Studio:</a:t>
            </a:r>
          </a:p>
          <a:p>
            <a:r>
              <a:rPr sz="2000"/>
              <a:t/>
            </a:r>
          </a:p>
          <a:p>
            <a:r>
              <a:rPr sz="2000"/>
              <a:t>Agent Flows  (✅ GA — use these in the lab)</a:t>
            </a:r>
          </a:p>
          <a:p>
            <a:r>
              <a:rPr sz="2000"/>
              <a:t>  Power Automate-style canvas  |  All environments</a:t>
            </a:r>
          </a:p>
          <a:p>
            <a:r>
              <a:rPr sz="2000"/>
              <a:t>  Left sidebar → Flows</a:t>
            </a:r>
          </a:p>
          <a:p>
            <a:r>
              <a:rPr sz="2000"/>
              <a:t/>
            </a:r>
          </a:p>
          <a:p>
            <a:r>
              <a:rPr sz="2000"/>
              <a:t>Workflows  (🔬 Preview — early-release environments only)</a:t>
            </a:r>
          </a:p>
          <a:p>
            <a:r>
              <a:rPr sz="2000"/>
              <a:t>  New visual canvas with agent nodes and prompt nodes</a:t>
            </a:r>
          </a:p>
          <a:p>
            <a:r>
              <a:rPr sz="2000"/>
              <a:t>  Left sidebar → Workflows (if you see this, you're in EA env)</a:t>
            </a:r>
          </a:p>
          <a:p>
            <a:r>
              <a:rPr sz="2000"/>
              <a:t/>
            </a:r>
          </a:p>
          <a:p>
            <a:r>
              <a:rPr sz="2000"/>
              <a:t>Today's lab uses Agent Flows throughout.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09: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1. In the topic: + icon → Add a tool → New Agent flow</a:t>
            </a:r>
          </a:p>
          <a:p>
            <a:r>
              <a:rPr sz="2200"/>
              <a:t>2. Agent Flows designer opens — add a Send Email action (Outlook)</a:t>
            </a:r>
          </a:p>
          <a:p>
            <a:r>
              <a:rPr sz="2200"/>
              <a:t>3. Map the Adaptive Card submission data into flow parameters</a:t>
            </a:r>
          </a:p>
          <a:p>
            <a:r>
              <a:rPr sz="2200"/>
              <a:t>4. Publish the flow and add it to your topic via Add a tool</a:t>
            </a:r>
          </a:p>
          <a:p>
            <a:r>
              <a:rPr sz="2200"/>
              <a:t>5. Test end-to-end: Chat → Card → Submit → Flow → Email sent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Let's Go! — Mission 09: Add an Agent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CODENAME: OPERATION AUTOMATION POWERHOUSE</a:t>
            </a:r>
          </a:p>
          <a:p>
            <a:r>
              <a:rPr sz="2200"/>
              <a:t>Difficulty: ★☆☆  |  Time: ~30 min</a:t>
            </a:r>
          </a:p>
          <a:p>
            <a:r>
              <a:rPr sz="2200"/>
              <a:t>Products: Copilot Studio, Power Automate, Outlook, SharePoint</a:t>
            </a:r>
          </a:p>
          <a:p>
            <a:r>
              <a:rPr sz="2200"/>
              <a:t>Tags: Automation</a:t>
            </a:r>
          </a:p>
          <a:p>
            <a:r>
              <a:rPr sz="2200"/>
              <a:t/>
            </a:r>
          </a:p>
          <a:p>
            <a:r>
              <a:rPr sz="2200"/>
              <a:t>Lab guide: microsoft.github.io/agent-academy/recruit/mission-09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Mission Debrief #3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Q1: What is a Topic trigger, and when would you use one?</a:t>
            </a:r>
          </a:p>
          <a:p>
            <a:r>
              <a:rPr sz="2400"/>
              <a:t>Q2: How do Adaptive Cards improve the user experience?</a:t>
            </a:r>
          </a:p>
          <a:p>
            <a:r>
              <a:rPr sz="2400"/>
              <a:t>Q3: What connects a card submission to a back-end action?</a:t>
            </a:r>
          </a:p>
          <a:p>
            <a:r>
              <a:rPr sz="2400"/>
              <a:t/>
            </a:r>
          </a:p>
          <a:p>
            <a:r>
              <a:rPr sz="2400"/>
              <a:t>Demo your end-to-end flow to your neighbour!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b="1" sz="3600"/>
              <a:t>Mission #4: Deploy</a:t>
            </a:r>
          </a:p>
          <a:p>
            <a:r>
              <a:rPr b="1" sz="3600"/>
              <a:t>Events, Publishing &amp; Going Rogue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10: Add Event Triggers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Make your agent act on its own</a:t>
            </a:r>
          </a:p>
          <a:p>
            <a:r>
              <a:rPr sz="2400"/>
              <a:t>Event triggers respond to things that happen, not just questions</a:t>
            </a:r>
          </a:p>
          <a:p>
            <a:r>
              <a:rPr sz="2400"/>
              <a:t>A new SharePoint item, a schedule, an external event</a:t>
            </a:r>
          </a:p>
          <a:p>
            <a:r>
              <a:rPr sz="2400"/>
              <a:t>The agent doesn't wait to be asked — it acts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FRAGO: Author / Created By Column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When testing your trigger the flow may fail because</a:t>
            </a:r>
          </a:p>
          <a:p>
            <a:r>
              <a:rPr sz="2200"/>
              <a:t>'Author Display Name' is not available in the SharePoint list view.</a:t>
            </a:r>
          </a:p>
          <a:p>
            <a:r>
              <a:rPr sz="2200"/>
              <a:t/>
            </a:r>
          </a:p>
          <a:p>
            <a:r>
              <a:rPr sz="2200"/>
              <a:t>Fix: Add the 'Created By' column to the All Items view in SharePoint:</a:t>
            </a:r>
          </a:p>
          <a:p>
            <a:r>
              <a:rPr sz="2200"/>
              <a:t>  → Open the Tickets list → All Items view → Edit columns</a:t>
            </a:r>
          </a:p>
          <a:p>
            <a:r>
              <a:rPr sz="2200"/>
              <a:t>  → Add 'Created By' → Save</a:t>
            </a:r>
          </a:p>
          <a:p>
            <a:r>
              <a:rPr sz="2200"/>
              <a:t/>
            </a:r>
          </a:p>
          <a:p>
            <a:r>
              <a:rPr sz="2200"/>
              <a:t>Then re-test your trigger.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10: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1. Overview page → Triggers section → + Add trigger</a:t>
            </a:r>
          </a:p>
          <a:p>
            <a:r>
              <a:rPr sz="2200"/>
              <a:t>2. Search for SharePoint trigger → When an item is created</a:t>
            </a:r>
          </a:p>
          <a:p>
            <a:r>
              <a:rPr sz="2200"/>
              <a:t>3. Configure: site URL and list name</a:t>
            </a:r>
          </a:p>
          <a:p>
            <a:r>
              <a:rPr sz="2200"/>
              <a:t>4. Build the autonomous action — send an email via Outlook connector</a:t>
            </a:r>
          </a:p>
          <a:p>
            <a:r>
              <a:rPr sz="2200"/>
              <a:t>5. Test: add a new item to SharePoint → verify the email is sent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Let's Go! — Mission 10: Add Event Triggers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CODENAME: OPERATION GHOST ROUTINE</a:t>
            </a:r>
          </a:p>
          <a:p>
            <a:r>
              <a:rPr sz="2200"/>
              <a:t>Difficulty: ★☆☆  |  Time: ~45 min</a:t>
            </a:r>
          </a:p>
          <a:p>
            <a:r>
              <a:rPr sz="2200"/>
              <a:t>Products: Copilot Studio, Power Automate, Outlook, SharePoint</a:t>
            </a:r>
          </a:p>
          <a:p>
            <a:r>
              <a:rPr sz="2200"/>
              <a:t>Tags: Automation, Triggers</a:t>
            </a:r>
          </a:p>
          <a:p>
            <a:r>
              <a:rPr sz="2200"/>
              <a:t/>
            </a:r>
          </a:p>
          <a:p>
            <a:r>
              <a:rPr sz="2200"/>
              <a:t>Lab guide: microsoft.github.io/agent-academy/recruit/mission-10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11: Publish Your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Ship it. Deploy to where your users are.</a:t>
            </a:r>
          </a:p>
          <a:p>
            <a:r>
              <a:rPr sz="2200"/>
              <a:t>Publish to Microsoft Teams — available in the Teams app store</a:t>
            </a:r>
          </a:p>
          <a:p>
            <a:r>
              <a:rPr sz="2200"/>
              <a:t>Publish to Microsoft 365 Copilot — integrated into the Copilot experience</a:t>
            </a:r>
          </a:p>
          <a:p>
            <a:r>
              <a:rPr sz="2200"/>
              <a:t>Configure authentication and access controls</a:t>
            </a:r>
          </a:p>
          <a:p>
            <a:r>
              <a:rPr sz="2200"/>
              <a:t>Your agent goes from prototype to production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FRAGO: Finding the Channels Tab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000"/>
              <a:t>Channels is NOT a section on the Overview page canvas.</a:t>
            </a:r>
          </a:p>
          <a:p>
            <a:r>
              <a:rPr sz="2000"/>
              <a:t/>
            </a:r>
          </a:p>
          <a:p>
            <a:r>
              <a:rPr sz="2000"/>
              <a:t>To reach Channels:</a:t>
            </a:r>
          </a:p>
          <a:p>
            <a:r>
              <a:rPr sz="2000"/>
              <a:t>  1. Open your agent → Overview page</a:t>
            </a:r>
          </a:p>
          <a:p>
            <a:r>
              <a:rPr sz="2000"/>
              <a:t>  2. Click +8 in the top tab bar (next to 'Overview')</a:t>
            </a:r>
          </a:p>
          <a:p>
            <a:r>
              <a:rPr sz="2000"/>
              <a:t>  3. Select Channels from the dropdown</a:t>
            </a:r>
          </a:p>
          <a:p>
            <a:r>
              <a:rPr sz="2000"/>
              <a:t/>
            </a:r>
          </a:p>
          <a:p>
            <a:r>
              <a:rPr sz="2000"/>
              <a:t>Once selected, Channels becomes the active tab.</a:t>
            </a:r>
          </a:p>
          <a:p>
            <a:r>
              <a:rPr sz="2000"/>
              <a:t>The lab instruction 'Select Channel in the top navigation' is correct —</a:t>
            </a:r>
          </a:p>
          <a:p>
            <a:r>
              <a:rPr sz="2000"/>
              <a:t>the +8 overflow is where it lives.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FRAGO: 'This App Cannot Be Found' in Teams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000"/>
              <a:t>When publishing to Teams you may see 'This app cannot be found.'</a:t>
            </a:r>
          </a:p>
          <a:p>
            <a:r>
              <a:rPr sz="2000"/>
              <a:t/>
            </a:r>
          </a:p>
          <a:p>
            <a:r>
              <a:rPr sz="2000"/>
              <a:t>  → Click Close</a:t>
            </a:r>
          </a:p>
          <a:p>
            <a:r>
              <a:rPr sz="2000"/>
              <a:t>  → Wait 2–3 minutes (Teams propagation delay)</a:t>
            </a:r>
          </a:p>
          <a:p>
            <a:r>
              <a:rPr sz="2000"/>
              <a:t>  → Go back to Copilot Studio and publish again</a:t>
            </a:r>
          </a:p>
          <a:p>
            <a:r>
              <a:rPr sz="2000"/>
              <a:t/>
            </a:r>
          </a:p>
          <a:p>
            <a:r>
              <a:rPr sz="2000"/>
              <a:t>Trial environment note: Trial environments require the Copilot Studio</a:t>
            </a:r>
          </a:p>
          <a:p>
            <a:r>
              <a:rPr sz="2000"/>
              <a:t>Authors role to publish. If Publish is greyed out, ask your facilitator.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11: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1. Overview page → Publish button (top right) → confirm</a:t>
            </a:r>
          </a:p>
          <a:p>
            <a:r>
              <a:rPr sz="2200"/>
              <a:t>2. Deploy to Microsoft Teams:</a:t>
            </a:r>
          </a:p>
          <a:p>
            <a:r>
              <a:rPr sz="2200"/>
              <a:t>   Overview page → +8 → Channels → Microsoft Teams → Add to Teams</a:t>
            </a:r>
          </a:p>
          <a:p>
            <a:r>
              <a:rPr sz="2200"/>
              <a:t>3. Deploy to Microsoft 365 Copilot:</a:t>
            </a:r>
          </a:p>
          <a:p>
            <a:r>
              <a:rPr sz="2200"/>
              <a:t>   Overview page → +8 → Channels → M365 and Teams → publish</a:t>
            </a:r>
          </a:p>
          <a:p>
            <a:r>
              <a:rPr sz="2200"/>
              <a:t>4. Open Teams web app → find your agent → test live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Let's Go! — Mission 11: Publish Your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CODENAME: OPERATION PUBLISH PUBLISH PUBLISH</a:t>
            </a:r>
          </a:p>
          <a:p>
            <a:r>
              <a:rPr sz="2200"/>
              <a:t>Difficulty: ★☆☆  |  Time: ~30 min</a:t>
            </a:r>
          </a:p>
          <a:p>
            <a:r>
              <a:rPr sz="2200"/>
              <a:t>Products: Microsoft Copilot Studio, Microsoft 365, Microsoft Teams</a:t>
            </a:r>
          </a:p>
          <a:p>
            <a:r>
              <a:rPr sz="2200"/>
              <a:t>Tags: Publishing</a:t>
            </a:r>
          </a:p>
          <a:p>
            <a:r>
              <a:rPr sz="2200"/>
              <a:t/>
            </a:r>
          </a:p>
          <a:p>
            <a:r>
              <a:rPr sz="2200"/>
              <a:t>Lab guide: microsoft.github.io/agent-academy/recruit/mission-11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Mission Debrief #4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Q1: Event triggers vs. waiting for user input — when do you use each?</a:t>
            </a:r>
          </a:p>
          <a:p>
            <a:r>
              <a:rPr sz="2400"/>
              <a:t>Q2: What are the two main channels for publishing?</a:t>
            </a:r>
          </a:p>
          <a:p>
            <a:r>
              <a:rPr sz="2400"/>
              <a:t>Q3: What is the 'trick' to finding the Channels tab in the new UI?</a:t>
            </a:r>
          </a:p>
          <a:p>
            <a:r>
              <a:rPr sz="2400"/>
              <a:t/>
            </a:r>
          </a:p>
          <a:p>
            <a:r>
              <a:rPr sz="2400"/>
              <a:t>Who deployed to Teams? Show us!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b="1" sz="3600"/>
              <a:t>Mission Complete</a:t>
            </a:r>
          </a:p>
          <a:p>
            <a:r>
              <a:rPr b="1" sz="3600"/>
              <a:t>What's Next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Lesson 12: Understanding Licensing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000"/>
              <a:t>Copilot Studio licensing model (June 2026):</a:t>
            </a:r>
          </a:p>
          <a:p>
            <a:r>
              <a:rPr sz="2000"/>
              <a:t>  Currency: Copilot Credits (replaced 'messages' in Sept 2025)</a:t>
            </a:r>
          </a:p>
          <a:p>
            <a:r>
              <a:rPr sz="2000"/>
              <a:t>  Cost: $0.01/credit pay-as-you-go  OR  $200/month for 25,000 credits</a:t>
            </a:r>
          </a:p>
          <a:p>
            <a:r>
              <a:rPr sz="2000"/>
              <a:t>  M365 Copilot users on internal channels: no credits consumed (fair use)</a:t>
            </a:r>
          </a:p>
          <a:p>
            <a:r>
              <a:rPr sz="2000"/>
              <a:t/>
            </a:r>
          </a:p>
          <a:p>
            <a:r>
              <a:rPr sz="2000"/>
              <a:t>Default AI model: GPT-4.1  (GPT-4o retired Oct 2025)</a:t>
            </a:r>
          </a:p>
          <a:p>
            <a:r>
              <a:rPr sz="2000"/>
              <a:t>New options: GPT-5, Claude Sonnet 4.5/4.6, Mistral Medium 3.5</a:t>
            </a:r>
          </a:p>
          <a:p>
            <a:r>
              <a:rPr sz="2000"/>
              <a:t/>
            </a:r>
          </a:p>
          <a:p>
            <a:r>
              <a:rPr sz="2000"/>
              <a:t>Trial: 30 days (extendable). Publishing requires Copilot Studio Authors role.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Let's Go! — Mission 12: Understanding Licensing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CODENAME: OPERATION KNOW WHAT YOU OWE</a:t>
            </a:r>
          </a:p>
          <a:p>
            <a:r>
              <a:rPr sz="2200"/>
              <a:t>Difficulty: ★☆☆  |  Time: ~15 min</a:t>
            </a:r>
          </a:p>
          <a:p>
            <a:r>
              <a:rPr sz="2200"/>
              <a:t>Products: Microsoft Copilot Studio, Microsoft 365</a:t>
            </a:r>
          </a:p>
          <a:p>
            <a:r>
              <a:rPr sz="2200"/>
              <a:t>Tags: Licensing</a:t>
            </a:r>
          </a:p>
          <a:p>
            <a:r>
              <a:rPr sz="2200"/>
              <a:t/>
            </a:r>
          </a:p>
          <a:p>
            <a:r>
              <a:rPr sz="2200"/>
              <a:t>Lab guide: microsoft.github.io/agent-academy/recruit/mission-12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Claim Your Recruit Badge!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You made it — time to claim your badge.</a:t>
            </a:r>
          </a:p>
          <a:p>
            <a:r>
              <a:rPr sz="2400"/>
              <a:t/>
            </a:r>
          </a:p>
          <a:p>
            <a:r>
              <a:rPr sz="2400"/>
              <a:t>Visit:  aka.ms/agentacademy-live/graduate</a:t>
            </a:r>
          </a:p>
          <a:p>
            <a:r>
              <a:rPr sz="2400"/>
              <a:t/>
            </a:r>
          </a:p>
          <a:p>
            <a:r>
              <a:rPr sz="2400"/>
              <a:t>What's next?</a:t>
            </a:r>
          </a:p>
          <a:p>
            <a:r>
              <a:rPr sz="2400"/>
              <a:t>  Operative: deeper agent patterns and advanced scenarios</a:t>
            </a:r>
          </a:p>
          <a:p>
            <a:r>
              <a:rPr sz="2400"/>
              <a:t>  Commander: enterprise-scale agent architecture (coming soon)</a:t>
            </a:r>
          </a:p>
          <a:p>
            <a:r>
              <a:rPr sz="2400"/>
              <a:t>  Special Ops: YAML, MCP, CLI and beyond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Let's Go! — Mission 13: Secure Your Recruit Badge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200"/>
              <a:t>CODENAME: OPERATION COURSE COMPLETION</a:t>
            </a:r>
          </a:p>
          <a:p>
            <a:r>
              <a:rPr sz="2200"/>
              <a:t>Difficulty: ★☆☆  |  Time: ~5 min</a:t>
            </a:r>
          </a:p>
          <a:p>
            <a:r>
              <a:rPr sz="2200"/>
              <a:t>Products: Microsoft Copilot Studio</a:t>
            </a:r>
          </a:p>
          <a:p>
            <a:r>
              <a:rPr sz="2200"/>
              <a:t>Tags: Course Completion</a:t>
            </a:r>
          </a:p>
          <a:p>
            <a:r>
              <a:rPr sz="2200"/>
              <a:t/>
            </a:r>
          </a:p>
          <a:p>
            <a:r>
              <a:rPr sz="2200"/>
              <a:t>aka.ms/agentacademy-live/graduate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Plan Your First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400"/>
              <a:t>5 minutes. Think about next week.</a:t>
            </a:r>
          </a:p>
          <a:p>
            <a:r>
              <a:rPr sz="2400"/>
              <a:t/>
            </a:r>
          </a:p>
          <a:p>
            <a:r>
              <a:rPr sz="2400"/>
              <a:t>What will you build first when you're back at your desk?</a:t>
            </a:r>
          </a:p>
          <a:p>
            <a:r>
              <a:rPr sz="2400"/>
              <a:t>Who is it for?</a:t>
            </a:r>
          </a:p>
          <a:p>
            <a:r>
              <a:rPr sz="2400"/>
              <a:t>Which pieces from today will you use?</a:t>
            </a:r>
          </a:p>
          <a:p>
            <a:r>
              <a:rPr sz="2400"/>
              <a:t/>
            </a:r>
          </a:p>
          <a:p>
            <a:r>
              <a:rPr sz="2400"/>
              <a:t>Write it down. Share with the room if you're brave.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Keep Building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000"/>
              <a:t>Agent Academy — microsoft.github.io/agent-academy</a:t>
            </a:r>
          </a:p>
          <a:p>
            <a:r>
              <a:rPr sz="2000"/>
              <a:t>BOOST Podcast — Power Platform community insights with Ulrikke &amp; Nick</a:t>
            </a:r>
          </a:p>
          <a:p>
            <a:r>
              <a:rPr sz="2000"/>
              <a:t>Copilot Studio Docs — learn.microsoft.com/copilot-studio</a:t>
            </a:r>
          </a:p>
          <a:p>
            <a:r>
              <a:rPr sz="2000"/>
              <a:t>What's New — learn.microsoft.com/en-us/microsoft-copilot-studio/whats-new</a:t>
            </a:r>
          </a:p>
          <a:p>
            <a:r>
              <a:rPr sz="2000"/>
              <a:t>Trial signup — aka.ms/TryCopilotStudio</a:t>
            </a:r>
          </a:p>
          <a:p>
            <a:r>
              <a:rPr sz="2000"/>
              <a:t>Usage Estimator — aka.ms/copilotstudioestimator</a:t>
            </a:r>
          </a:p>
          <a:p>
            <a:r>
              <a:rPr sz="2000"/>
              <a:t/>
            </a:r>
          </a:p>
          <a:p>
            <a:r>
              <a:rPr sz="2000"/>
              <a:t>Join the Power Platform community — share what you build!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Don't Be an Expert.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800"/>
              <a:t>Play, experiment, explore.</a:t>
            </a:r>
          </a:p>
          <a:p>
            <a:r>
              <a:rPr sz="2800"/>
              <a:t/>
            </a:r>
          </a:p>
          <a:p>
            <a:r>
              <a:rPr sz="2800"/>
              <a:t>— Ulrikke &amp; Nick, Power Platform BOOST Podcast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What's Next in Agent Academy?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000"/>
              <a:t>Recruit ✅  You are here — 13 lessons, zero to deployed agent</a:t>
            </a:r>
          </a:p>
          <a:p>
            <a:r>
              <a:rPr sz="2000"/>
              <a:t/>
            </a:r>
          </a:p>
          <a:p>
            <a:r>
              <a:rPr sz="2000"/>
              <a:t>Operative (next level)</a:t>
            </a:r>
          </a:p>
          <a:p>
            <a:r>
              <a:rPr sz="2000"/>
              <a:t>  Deeper agent patterns, advanced knowledge, multi-agent orchestration</a:t>
            </a:r>
          </a:p>
          <a:p>
            <a:r>
              <a:rPr sz="2000"/>
              <a:t>  microsoft.github.io/agent-academy/operative</a:t>
            </a:r>
          </a:p>
          <a:p>
            <a:r>
              <a:rPr sz="2000"/>
              <a:t/>
            </a:r>
          </a:p>
          <a:p>
            <a:r>
              <a:rPr sz="2000"/>
              <a:t>Commander (coming soon)</a:t>
            </a:r>
          </a:p>
          <a:p>
            <a:r>
              <a:rPr sz="2000"/>
              <a:t>  Enterprise-scale architecture, governance, ALM</a:t>
            </a:r>
          </a:p>
          <a:p>
            <a:r>
              <a:rPr sz="2000"/>
              <a:t/>
            </a:r>
          </a:p>
          <a:p>
            <a:r>
              <a:rPr sz="2000"/>
              <a:t>Special Ops</a:t>
            </a:r>
          </a:p>
          <a:p>
            <a:r>
              <a:rPr sz="2000"/>
              <a:t>  YAML authoring, MCP servers, CLI, advanced tooling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Q&amp;A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600"/>
              <a:t>Questions?</a:t>
            </a:r>
          </a:p>
          <a:p>
            <a:r>
              <a:rPr sz="2600"/>
              <a:t/>
            </a:r>
          </a:p>
          <a:p>
            <a:r>
              <a:rPr sz="2600"/>
              <a:t>Nick Doelman — nick@readyxrm.com  |  @readyxrm</a:t>
            </a:r>
          </a:p>
          <a:p>
            <a:r>
              <a:rPr sz="2600"/>
              <a:t>Ulrikke Akerbæk — me@ulrikke.rocks  |  @ulrikkeakerbk</a:t>
            </a:r>
          </a:p>
          <a:p>
            <a:r>
              <a:rPr sz="2600"/>
              <a:t/>
            </a:r>
          </a:p>
          <a:p>
            <a:r>
              <a:rPr sz="2600"/>
              <a:t>#EPPC26  |  #AgentAcademy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280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2600"/>
              <a:t>Thank you for joining us today.</a:t>
            </a:r>
          </a:p>
          <a:p>
            <a:r>
              <a:rPr sz="2600"/>
              <a:t/>
            </a:r>
          </a:p>
          <a:p>
            <a:r>
              <a:rPr sz="2600"/>
              <a:t>Please rate this session using the EPPC app.</a:t>
            </a:r>
          </a:p>
          <a:p>
            <a:r>
              <a:rPr sz="2600"/>
              <a:t>Your feedback helps us improve.</a:t>
            </a:r>
          </a:p>
          <a:p>
            <a:r>
              <a:rPr sz="2600"/>
              <a:t/>
            </a:r>
          </a:p>
          <a:p>
            <a:r>
              <a:rPr sz="2600"/>
              <a:t>#EPPC26  |  #AgentAcademy  |  #PowerPlatform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plash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i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sz="2400" dirty="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1F54D7AD26C459333D1AFF09839BE" ma:contentTypeVersion="14" ma:contentTypeDescription="Create a new document." ma:contentTypeScope="" ma:versionID="267f41264e04a5c3ada0074a8fd340dc">
  <xsd:schema xmlns:xsd="http://www.w3.org/2001/XMLSchema" xmlns:xs="http://www.w3.org/2001/XMLSchema" xmlns:p="http://schemas.microsoft.com/office/2006/metadata/properties" xmlns:ns2="221fbb9a-23db-4311-a69c-34622b264696" xmlns:ns3="1b3b1065-ae42-4d8a-aa8c-0a73a17faba8" targetNamespace="http://schemas.microsoft.com/office/2006/metadata/properties" ma:root="true" ma:fieldsID="b5806782e6246c3a79c8d8c00ea8f5e6" ns2:_="" ns3:_="">
    <xsd:import namespace="221fbb9a-23db-4311-a69c-34622b264696"/>
    <xsd:import namespace="1b3b1065-ae42-4d8a-aa8c-0a73a17fa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bb9a-23db-4311-a69c-34622b264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530a17-84a2-4d03-b447-f9955f42fe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3b1065-ae42-4d8a-aa8c-0a73a17fab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72881c0-9f09-48c0-b71c-fddfa2680fd3}" ma:internalName="TaxCatchAll" ma:showField="CatchAllData" ma:web="1b3b1065-ae42-4d8a-aa8c-0a73a17fab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3b1065-ae42-4d8a-aa8c-0a73a17faba8" xsi:nil="true"/>
    <lcf76f155ced4ddcb4097134ff3c332f xmlns="221fbb9a-23db-4311-a69c-34622b26469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6782FBD-C4AD-49F1-B11B-703DF9FAD8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17F9A3-629C-4784-B224-2061BB4B58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bb9a-23db-4311-a69c-34622b264696"/>
    <ds:schemaRef ds:uri="1b3b1065-ae42-4d8a-aa8c-0a73a17fa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5C0892-D583-430B-AD43-D1A4EB1EE043}">
  <ds:schemaRefs>
    <ds:schemaRef ds:uri="http://schemas.microsoft.com/office/2006/metadata/properties"/>
    <ds:schemaRef ds:uri="http://www.w3.org/XML/1998/namespace"/>
    <ds:schemaRef ds:uri="http://purl.org/dc/elements/1.1/"/>
    <ds:schemaRef ds:uri="221fbb9a-23db-4311-a69c-34622b264696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1b3b1065-ae42-4d8a-aa8c-0a73a17faba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3600</TotalTime>
  <Words>528</Words>
  <Application>Microsoft Macintosh PowerPoint</Application>
  <PresentationFormat>Widescreen</PresentationFormat>
  <Paragraphs>81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Splash Screen</vt:lpstr>
      <vt:lpstr>Title Slide</vt:lpstr>
      <vt:lpstr>Main Content</vt:lpstr>
      <vt:lpstr>End Screen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SharePoint Europe Systems</dc:creator>
  <cp:lastModifiedBy>Ray Glasheen</cp:lastModifiedBy>
  <cp:revision>54</cp:revision>
  <dcterms:created xsi:type="dcterms:W3CDTF">2016-06-21T09:22:52Z</dcterms:created>
  <dcterms:modified xsi:type="dcterms:W3CDTF">2026-04-30T15:32:19Z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0x010100A051F54D7AD26C459333D1AFF09839BE</vt:lpwstr>
  </property>
  <property fmtid="{D5CDD505-2E9C-101B-9397-08002B2CF9AE}" pid="3" name="MediaServiceImageTags">
    <vt:lpwstr/>
  </property>
</Properties>
</file>